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0" y="1828800"/>
            <a:ext cx="822960" cy="64008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966960" y="1920240"/>
            <a:ext cx="731520" cy="54864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9601200" y="2468880"/>
            <a:ext cx="365760" cy="73152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0" y="3200400"/>
            <a:ext cx="640080" cy="36576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144000" y="3566160"/>
            <a:ext cx="1097280" cy="64008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966960" y="3566160"/>
            <a:ext cx="274320" cy="100584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966960" y="4114800"/>
            <a:ext cx="731520" cy="45720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698480" y="2926080"/>
            <a:ext cx="457200" cy="118872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98480" y="1920240"/>
            <a:ext cx="457200" cy="100584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3200400"/>
            <a:ext cx="365760" cy="137160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66960" y="2468880"/>
            <a:ext cx="274320" cy="109728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4206240"/>
            <a:ext cx="822960" cy="365760"/>
          </a:xfrm>
          <a:prstGeom prst="line">
            <a:avLst/>
          </a:prstGeom>
          <a:ln w="127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061704" y="174650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84664" y="238658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16184" y="183794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18904" y="311810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58984" y="348386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61704" y="412394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84664" y="448970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16184" y="403250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73384" y="284378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979714" cy="1097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2194560"/>
            <a:ext cx="7863840" cy="1463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3600" b="1">
                <a:solidFill>
                  <a:srgbClr val="2C333D"/>
                </a:solidFill>
                <a:latin typeface="Calibri"/>
              </a:rPr>
              <a:t>Adaptive Strategy Learning</a:t>
            </a:r>
          </a:p>
          <a:p>
            <a:pPr algn="l"/>
            <a:r>
              <a:rPr sz="3600" b="1">
                <a:solidFill>
                  <a:srgbClr val="2C333D"/>
                </a:solidFill>
                <a:latin typeface="Calibri"/>
              </a:rPr>
              <a:t>in Multi-Agent</a:t>
            </a:r>
          </a:p>
          <a:p>
            <a:pPr algn="l"/>
            <a:r>
              <a:rPr sz="3600" b="1">
                <a:solidFill>
                  <a:srgbClr val="2C333D"/>
                </a:solidFill>
                <a:latin typeface="Calibri"/>
              </a:rPr>
              <a:t>Imperfect-Information Games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2000" b="0" i="1">
                <a:solidFill>
                  <a:srgbClr val="1F4E79"/>
                </a:solidFill>
                <a:latin typeface="Calibri"/>
              </a:rPr>
              <a:t>From Equilibrium Computation to Safe Opponent Exploitation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00600"/>
            <a:ext cx="64008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74920"/>
            <a:ext cx="7863840" cy="4114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2C333D"/>
                </a:solidFill>
                <a:latin typeface="Calibri"/>
              </a:rPr>
              <a:t>Alexander Andreev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86400"/>
            <a:ext cx="786384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55606D"/>
                </a:solidFill>
                <a:latin typeface="Calibri"/>
              </a:rPr>
              <a:t>PhD session report  ·  May 2026  ·  Ruse University “Angel Kanchev”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Why this matters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01952"/>
            <a:ext cx="146304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54864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2C333D"/>
                </a:solidFill>
                <a:latin typeface="Calibri"/>
              </a:rPr>
              <a:t>Strong single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54864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55606D"/>
                </a:solidFill>
                <a:latin typeface="Calibri"/>
              </a:rPr>
              <a:t>well understood in constrained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62072"/>
            <a:ext cx="146304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2C333D"/>
                </a:solidFill>
                <a:latin typeface="Calibri"/>
              </a:rPr>
              <a:t>Agents interacting with other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54864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55606D"/>
                </a:solidFill>
                <a:latin typeface="Calibri"/>
              </a:rPr>
              <a:t>open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22191"/>
            <a:ext cx="146304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57600"/>
            <a:ext cx="54864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2C333D"/>
                </a:solidFill>
                <a:latin typeface="Calibri"/>
              </a:rPr>
              <a:t>Hidden information  ·  adversarial intent  ·  real-time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21945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55606D"/>
                </a:solidFill>
                <a:latin typeface="Calibri"/>
              </a:rPr>
              <a:t>Single agent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205740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400" b="1">
                <a:solidFill>
                  <a:srgbClr val="FAFAFB"/>
                </a:solidFill>
                <a:latin typeface="Calibri"/>
              </a:rPr>
              <a:t>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9760" y="1691640"/>
            <a:ext cx="0" cy="429768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200" y="1554480"/>
            <a:ext cx="237744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55606D"/>
                </a:solidFill>
                <a:latin typeface="Calibri"/>
              </a:rPr>
              <a:t>Multi-agent</a:t>
            </a:r>
          </a:p>
        </p:txBody>
      </p:sp>
      <p:sp>
        <p:nvSpPr>
          <p:cNvPr id="17" name="Oval 16"/>
          <p:cNvSpPr/>
          <p:nvPr/>
        </p:nvSpPr>
        <p:spPr>
          <a:xfrm>
            <a:off x="9784080" y="210312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400" b="1">
                <a:solidFill>
                  <a:srgbClr val="FAFAFB"/>
                </a:solidFill>
                <a:latin typeface="Calibri"/>
              </a:rP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11064240" y="21031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400" b="1">
                <a:solidFill>
                  <a:srgbClr val="FAFAFB"/>
                </a:solidFill>
                <a:latin typeface="Calibri"/>
              </a:rPr>
              <a:t>?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0" y="356616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400" b="1">
                <a:solidFill>
                  <a:srgbClr val="FAFAFB"/>
                </a:solidFill>
                <a:latin typeface="Calibri"/>
              </a:rPr>
              <a:t>?</a:t>
            </a:r>
          </a:p>
        </p:txBody>
      </p:sp>
      <p:sp>
        <p:nvSpPr>
          <p:cNvPr id="20" name="Oval 19"/>
          <p:cNvSpPr/>
          <p:nvPr/>
        </p:nvSpPr>
        <p:spPr>
          <a:xfrm>
            <a:off x="11338560" y="356616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400" b="1">
                <a:solidFill>
                  <a:srgbClr val="FAFAFB"/>
                </a:solidFill>
                <a:latin typeface="Calibri"/>
              </a:rPr>
              <a:t>?</a:t>
            </a:r>
          </a:p>
        </p:txBody>
      </p:sp>
      <p:sp>
        <p:nvSpPr>
          <p:cNvPr id="21" name="Oval 20"/>
          <p:cNvSpPr/>
          <p:nvPr/>
        </p:nvSpPr>
        <p:spPr>
          <a:xfrm>
            <a:off x="10424160" y="48006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400" b="1">
                <a:solidFill>
                  <a:srgbClr val="FAFAFB"/>
                </a:solidFill>
                <a:latin typeface="Calibri"/>
              </a:rPr>
              <a:t>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12680" y="2331720"/>
            <a:ext cx="1280160" cy="0"/>
          </a:xfrm>
          <a:prstGeom prst="line">
            <a:avLst/>
          </a:prstGeom>
          <a:ln w="158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738360" y="2331720"/>
            <a:ext cx="274320" cy="1463040"/>
          </a:xfrm>
          <a:prstGeom prst="line">
            <a:avLst/>
          </a:prstGeom>
          <a:ln w="158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292840" y="2331720"/>
            <a:ext cx="274320" cy="1463040"/>
          </a:xfrm>
          <a:prstGeom prst="line">
            <a:avLst/>
          </a:prstGeom>
          <a:ln w="158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738360" y="3794760"/>
            <a:ext cx="914400" cy="1234440"/>
          </a:xfrm>
          <a:prstGeom prst="line">
            <a:avLst/>
          </a:prstGeom>
          <a:ln w="158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652760" y="3794760"/>
            <a:ext cx="914400" cy="1234440"/>
          </a:xfrm>
          <a:prstGeom prst="line">
            <a:avLst/>
          </a:prstGeom>
          <a:ln w="158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652760" y="2331720"/>
            <a:ext cx="640080" cy="2697480"/>
          </a:xfrm>
          <a:prstGeom prst="line">
            <a:avLst/>
          </a:prstGeom>
          <a:ln w="158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12680" y="2331720"/>
            <a:ext cx="1554480" cy="1463040"/>
          </a:xfrm>
          <a:prstGeom prst="line">
            <a:avLst/>
          </a:prstGeom>
          <a:ln w="158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55480" y="5623560"/>
            <a:ext cx="246888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C0392B"/>
                </a:solidFill>
                <a:latin typeface="Calibri"/>
              </a:rPr>
              <a:t>hidden  ·  possibly adversarial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Where this shows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2240280"/>
          </a:xfrm>
          <a:prstGeom prst="roundRect">
            <a:avLst/>
          </a:prstGeom>
          <a:solidFill>
            <a:srgbClr val="FAFAFB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731520" y="2606040"/>
            <a:ext cx="228600" cy="13716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0120" y="2606040"/>
            <a:ext cx="228600" cy="9144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8720" y="2423160"/>
            <a:ext cx="228600" cy="2743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20" y="2423160"/>
            <a:ext cx="228600" cy="457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645920" y="2286000"/>
            <a:ext cx="137160" cy="18288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" y="2194560"/>
            <a:ext cx="0" cy="640080"/>
          </a:xfrm>
          <a:prstGeom prst="line">
            <a:avLst/>
          </a:prstGeom>
          <a:ln w="127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" y="2834640"/>
            <a:ext cx="1143000" cy="0"/>
          </a:xfrm>
          <a:prstGeom prst="line">
            <a:avLst/>
          </a:prstGeom>
          <a:ln w="127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74519" y="1874519"/>
            <a:ext cx="20116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C333D"/>
                </a:solidFill>
                <a:latin typeface="Calibri"/>
              </a:rPr>
              <a:t>Financial 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423160"/>
            <a:ext cx="20116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5606D"/>
                </a:solidFill>
                <a:latin typeface="Calibri"/>
              </a:rPr>
              <a:t>hidden positions  ·  microsecond reactions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554480"/>
            <a:ext cx="3566160" cy="2240280"/>
          </a:xfrm>
          <a:prstGeom prst="roundRect">
            <a:avLst/>
          </a:prstGeom>
          <a:solidFill>
            <a:srgbClr val="FAFAFB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lock Arc 15"/>
          <p:cNvSpPr/>
          <p:nvPr/>
        </p:nvSpPr>
        <p:spPr>
          <a:xfrm>
            <a:off x="4828032" y="2103120"/>
            <a:ext cx="402336" cy="502920"/>
          </a:xfrm>
          <a:prstGeom prst="blockArc">
            <a:avLst/>
          </a:prstGeom>
          <a:noFill/>
          <a:ln w="317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2423160"/>
            <a:ext cx="548640" cy="502920"/>
          </a:xfrm>
          <a:prstGeom prst="roundRect">
            <a:avLst/>
          </a:prstGeom>
          <a:solidFill>
            <a:srgbClr val="1F4E79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83480" y="2587752"/>
            <a:ext cx="91440" cy="91440"/>
          </a:xfrm>
          <a:prstGeom prst="ellipse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874519"/>
            <a:ext cx="20116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C333D"/>
                </a:solidFill>
                <a:latin typeface="Calibri"/>
              </a:rPr>
              <a:t>Cybersecurity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423160"/>
            <a:ext cx="20116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5606D"/>
                </a:solidFill>
                <a:latin typeface="Calibri"/>
              </a:rPr>
              <a:t>adaptive attackers  ·  hidden intent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554480"/>
            <a:ext cx="3566160" cy="2240280"/>
          </a:xfrm>
          <a:prstGeom prst="roundRect">
            <a:avLst/>
          </a:prstGeom>
          <a:solidFill>
            <a:srgbClr val="FAFAFB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8412480" y="2286000"/>
            <a:ext cx="411480" cy="22860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823960" y="2331720"/>
            <a:ext cx="411480" cy="18288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23960" y="2514600"/>
            <a:ext cx="0" cy="36576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330184" y="220370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53144" y="224942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41664" y="2798064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05088" y="2395728"/>
            <a:ext cx="237744" cy="23774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1874519"/>
            <a:ext cx="20116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C333D"/>
                </a:solidFill>
                <a:latin typeface="Calibri"/>
              </a:rPr>
              <a:t>Social platforms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423160"/>
            <a:ext cx="20116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5606D"/>
                </a:solidFill>
                <a:latin typeface="Calibri"/>
              </a:rPr>
              <a:t>bot networks  ·  coordinated disinformation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54580" y="3931920"/>
            <a:ext cx="3566160" cy="2240280"/>
          </a:xfrm>
          <a:prstGeom prst="roundRect">
            <a:avLst/>
          </a:prstGeom>
          <a:solidFill>
            <a:srgbClr val="FAFAFB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884932" y="4645152"/>
            <a:ext cx="0" cy="493776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884932" y="4645152"/>
            <a:ext cx="493776" cy="0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049524" y="4645152"/>
            <a:ext cx="0" cy="493776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84932" y="4809744"/>
            <a:ext cx="493776" cy="0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214116" y="4645152"/>
            <a:ext cx="0" cy="493776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84932" y="4974336"/>
            <a:ext cx="493776" cy="0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378708" y="4645152"/>
            <a:ext cx="0" cy="493776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84932" y="5138928"/>
            <a:ext cx="493776" cy="0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930652" y="469087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59836" y="485546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71900" y="4251960"/>
            <a:ext cx="20116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C333D"/>
                </a:solidFill>
                <a:latin typeface="Calibri"/>
              </a:rPr>
              <a:t>Security  (deployed today)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1900" y="4800600"/>
            <a:ext cx="20116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5606D"/>
                </a:solidFill>
                <a:latin typeface="Calibri"/>
              </a:rPr>
              <a:t>patrol &amp; screening randomisation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9340" y="3931920"/>
            <a:ext cx="3566160" cy="2240280"/>
          </a:xfrm>
          <a:prstGeom prst="roundRect">
            <a:avLst/>
          </a:prstGeom>
          <a:solidFill>
            <a:srgbClr val="FAFAFB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606540" y="4617720"/>
            <a:ext cx="384048" cy="50292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800" b="0">
                <a:solidFill>
                  <a:srgbClr val="1F4E79"/>
                </a:solidFill>
                <a:latin typeface="Calibri"/>
              </a:rPr>
              <a:t>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80860" y="4709160"/>
            <a:ext cx="384048" cy="50292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800" b="0">
                <a:solidFill>
                  <a:srgbClr val="C0392B"/>
                </a:solidFill>
                <a:latin typeface="Calibri"/>
              </a:rPr>
              <a:t>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66660" y="4251960"/>
            <a:ext cx="20116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C333D"/>
                </a:solidFill>
                <a:latin typeface="Calibri"/>
              </a:rPr>
              <a:t>Gaming platforms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6660" y="4800600"/>
            <a:ext cx="20116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5606D"/>
                </a:solidFill>
                <a:latin typeface="Calibri"/>
              </a:rPr>
              <a:t>collusion  ·  fraud detection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Why study games?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55606D"/>
                </a:solidFill>
                <a:latin typeface="Calibri"/>
              </a:rPr>
              <a:t>Controlled environments where strategic behaviour is testable.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1874519"/>
            <a:ext cx="2606040" cy="4206240"/>
          </a:xfrm>
          <a:prstGeom prst="roundRect">
            <a:avLst/>
          </a:prstGeom>
          <a:solidFill>
            <a:srgbClr val="FAFAFB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92427" y="2880360"/>
            <a:ext cx="384048" cy="50292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800" b="0">
                <a:solidFill>
                  <a:srgbClr val="1F4E79"/>
                </a:solidFill>
                <a:latin typeface="Calibri"/>
              </a:rPr>
              <a:t>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66747" y="2971799"/>
            <a:ext cx="384048" cy="50292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800" b="0">
                <a:solidFill>
                  <a:srgbClr val="C0392B"/>
                </a:solidFill>
                <a:latin typeface="Calibri"/>
              </a:rPr>
              <a:t>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1965960"/>
            <a:ext cx="3657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8A939F"/>
                </a:solidFill>
                <a:latin typeface="Calibri"/>
              </a:rPr>
              <a:t>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4206240"/>
            <a:ext cx="224028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C333D"/>
                </a:solidFill>
                <a:latin typeface="Calibri"/>
              </a:rPr>
              <a:t>Poker  /  Belot-like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4709160"/>
            <a:ext cx="2240280" cy="11887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5606D"/>
                </a:solidFill>
                <a:latin typeface="Calibri"/>
              </a:rPr>
              <a:t>hidden cards  · 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8367" y="1874519"/>
            <a:ext cx="2606040" cy="4206240"/>
          </a:xfrm>
          <a:prstGeom prst="roundRect">
            <a:avLst/>
          </a:prstGeom>
          <a:solidFill>
            <a:srgbClr val="FAFAFB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81347" y="3383279"/>
            <a:ext cx="640080" cy="0"/>
          </a:xfrm>
          <a:prstGeom prst="line">
            <a:avLst/>
          </a:prstGeom>
          <a:ln w="444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747107" y="2880360"/>
            <a:ext cx="365760" cy="502919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89907" y="3566160"/>
            <a:ext cx="822960" cy="0"/>
          </a:xfrm>
          <a:prstGeom prst="line">
            <a:avLst/>
          </a:prstGeom>
          <a:ln w="254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81247" y="4206240"/>
            <a:ext cx="224028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C333D"/>
                </a:solidFill>
                <a:latin typeface="Calibri"/>
              </a:rPr>
              <a:t>Auction-style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247" y="4709160"/>
            <a:ext cx="2240280" cy="11887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5606D"/>
                </a:solidFill>
                <a:latin typeface="Calibri"/>
              </a:rPr>
              <a:t>hidden valuations  ·  bidding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1874519"/>
            <a:ext cx="2606040" cy="4206240"/>
          </a:xfrm>
          <a:prstGeom prst="roundRect">
            <a:avLst/>
          </a:prstGeom>
          <a:solidFill>
            <a:srgbClr val="FAFAFB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124547" y="2788920"/>
            <a:ext cx="0" cy="731519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24547" y="2788920"/>
            <a:ext cx="731520" cy="0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07427" y="2788920"/>
            <a:ext cx="0" cy="731519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24547" y="2971800"/>
            <a:ext cx="731520" cy="0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90307" y="2788920"/>
            <a:ext cx="0" cy="731519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24547" y="3154679"/>
            <a:ext cx="731520" cy="0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73187" y="2788920"/>
            <a:ext cx="0" cy="731519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24547" y="3337560"/>
            <a:ext cx="731520" cy="0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56067" y="2788920"/>
            <a:ext cx="0" cy="731519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24547" y="3520439"/>
            <a:ext cx="731520" cy="0"/>
          </a:xfrm>
          <a:prstGeom prst="line">
            <a:avLst/>
          </a:prstGeom>
          <a:ln w="9525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170267" y="2834639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18907" y="3383279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0167" y="4206240"/>
            <a:ext cx="224028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C333D"/>
                </a:solidFill>
                <a:latin typeface="Calibri"/>
              </a:rPr>
              <a:t>Pursuit-evasion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4709160"/>
            <a:ext cx="2240280" cy="11887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5606D"/>
                </a:solidFill>
                <a:latin typeface="Calibri"/>
              </a:rPr>
              <a:t>partial observability  ·  adversarial 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6207" y="1874519"/>
            <a:ext cx="2606040" cy="4206240"/>
          </a:xfrm>
          <a:prstGeom prst="roundRect">
            <a:avLst/>
          </a:prstGeom>
          <a:solidFill>
            <a:srgbClr val="FAFAFB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867747" y="2880360"/>
            <a:ext cx="82296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690707" y="2880360"/>
            <a:ext cx="0" cy="548639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867747" y="2880360"/>
            <a:ext cx="0" cy="548639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67747" y="2880360"/>
            <a:ext cx="822960" cy="548639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776307" y="2788920"/>
            <a:ext cx="182880" cy="1828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599267" y="2788920"/>
            <a:ext cx="182880" cy="1828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99267" y="3337559"/>
            <a:ext cx="182880" cy="1828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76307" y="3337559"/>
            <a:ext cx="182880" cy="1828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59087" y="4206240"/>
            <a:ext cx="224028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C333D"/>
                </a:solidFill>
                <a:latin typeface="Calibri"/>
              </a:rPr>
              <a:t>Coalition games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9087" y="4709160"/>
            <a:ext cx="2240280" cy="11887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5606D"/>
                </a:solidFill>
                <a:latin typeface="Calibri"/>
              </a:rPr>
              <a:t>alliances  ·  betrayal  ·  N-player incentives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126480"/>
            <a:ext cx="10911535" cy="2743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8A939F"/>
                </a:solidFill>
                <a:latin typeface="Calibri"/>
              </a:rPr>
              <a:t>Validation environments — not the final application domains.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State of the 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55606D"/>
                </a:solidFill>
                <a:latin typeface="Calibri"/>
              </a:rPr>
              <a:t>“Superhuman” in progressively larger games.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3657600"/>
            <a:ext cx="10180015" cy="0"/>
          </a:xfrm>
          <a:prstGeom prst="line">
            <a:avLst/>
          </a:prstGeom>
          <a:ln w="254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02975" y="3547872"/>
            <a:ext cx="182880" cy="109728"/>
          </a:xfrm>
          <a:prstGeom prst="line">
            <a:avLst/>
          </a:prstGeom>
          <a:ln w="254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002975" y="3657600"/>
            <a:ext cx="182880" cy="109728"/>
          </a:xfrm>
          <a:prstGeom prst="line">
            <a:avLst/>
          </a:prstGeom>
          <a:ln w="254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61288" y="3538728"/>
            <a:ext cx="237744" cy="2377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201168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2007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68880"/>
            <a:ext cx="201168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C333D"/>
                </a:solidFill>
                <a:latin typeface="Calibri"/>
              </a:rPr>
              <a:t>CFR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2944368"/>
            <a:ext cx="2377440" cy="5486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55606D"/>
                </a:solidFill>
                <a:latin typeface="Calibri"/>
              </a:rPr>
              <a:t>regret minimisation</a:t>
            </a:r>
          </a:p>
          <a:p>
            <a:pPr algn="ctr"/>
            <a:r>
              <a:rPr sz="1000" b="0">
                <a:solidFill>
                  <a:srgbClr val="55606D"/>
                </a:solidFill>
                <a:latin typeface="Calibri"/>
              </a:rPr>
              <a:t>in imperfect-info games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280160" y="3246120"/>
            <a:ext cx="0" cy="32004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569131" y="3538728"/>
            <a:ext cx="237744" cy="2377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688003" y="3749039"/>
            <a:ext cx="0" cy="320041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82163" y="4114800"/>
            <a:ext cx="201168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2017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2163" y="4480560"/>
            <a:ext cx="201168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C333D"/>
                </a:solidFill>
                <a:latin typeface="Calibri"/>
              </a:rPr>
              <a:t>Libratus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9283" y="4937760"/>
            <a:ext cx="2377440" cy="5486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55606D"/>
                </a:solidFill>
                <a:latin typeface="Calibri"/>
              </a:rPr>
              <a:t>2-player poker</a:t>
            </a:r>
          </a:p>
          <a:p>
            <a:pPr algn="ctr"/>
            <a:r>
              <a:rPr sz="1000" b="0">
                <a:solidFill>
                  <a:srgbClr val="55606D"/>
                </a:solidFill>
                <a:latin typeface="Calibri"/>
              </a:rPr>
              <a:t>superhuman</a:t>
            </a:r>
          </a:p>
        </p:txBody>
      </p:sp>
      <p:sp>
        <p:nvSpPr>
          <p:cNvPr id="19" name="Oval 18"/>
          <p:cNvSpPr/>
          <p:nvPr/>
        </p:nvSpPr>
        <p:spPr>
          <a:xfrm>
            <a:off x="5976975" y="3538728"/>
            <a:ext cx="237744" cy="2377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0007" y="2103120"/>
            <a:ext cx="201168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2019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0007" y="2468880"/>
            <a:ext cx="201168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C333D"/>
                </a:solidFill>
                <a:latin typeface="Calibri"/>
              </a:rPr>
              <a:t>Pluribus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7127" y="2944368"/>
            <a:ext cx="2377440" cy="5486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55606D"/>
                </a:solidFill>
                <a:latin typeface="Calibri"/>
              </a:rPr>
              <a:t>6-player poker</a:t>
            </a:r>
          </a:p>
          <a:p>
            <a:pPr algn="ctr"/>
            <a:r>
              <a:rPr sz="1000" b="0">
                <a:solidFill>
                  <a:srgbClr val="55606D"/>
                </a:solidFill>
                <a:latin typeface="Calibri"/>
              </a:rPr>
              <a:t>superhuman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095847" y="3246120"/>
            <a:ext cx="0" cy="32004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384819" y="3538728"/>
            <a:ext cx="237744" cy="2377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503691" y="3749039"/>
            <a:ext cx="0" cy="320041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7851" y="4114800"/>
            <a:ext cx="201168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7851" y="4480560"/>
            <a:ext cx="201168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C333D"/>
                </a:solidFill>
                <a:latin typeface="Calibri"/>
              </a:rPr>
              <a:t>ReBeL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4971" y="4937760"/>
            <a:ext cx="2377440" cy="5486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55606D"/>
                </a:solidFill>
                <a:latin typeface="Calibri"/>
              </a:rPr>
              <a:t>search + RL</a:t>
            </a:r>
          </a:p>
          <a:p>
            <a:pPr algn="ctr"/>
            <a:r>
              <a:rPr sz="1000" b="0">
                <a:solidFill>
                  <a:srgbClr val="55606D"/>
                </a:solidFill>
                <a:latin typeface="Calibri"/>
              </a:rPr>
              <a:t>in imperfect-info</a:t>
            </a:r>
          </a:p>
        </p:txBody>
      </p:sp>
      <p:sp>
        <p:nvSpPr>
          <p:cNvPr id="29" name="Oval 28"/>
          <p:cNvSpPr/>
          <p:nvPr/>
        </p:nvSpPr>
        <p:spPr>
          <a:xfrm>
            <a:off x="10792663" y="3538728"/>
            <a:ext cx="237744" cy="2377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05695" y="2103120"/>
            <a:ext cx="201168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5695" y="2468880"/>
            <a:ext cx="201168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C333D"/>
                </a:solidFill>
                <a:latin typeface="Calibri"/>
              </a:rPr>
              <a:t>DeepNash  /  CICERO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2815" y="2944368"/>
            <a:ext cx="2377440" cy="5486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55606D"/>
                </a:solidFill>
                <a:latin typeface="Calibri"/>
              </a:rPr>
              <a:t>Stratego  ·  Diplomacy</a:t>
            </a:r>
          </a:p>
          <a:p>
            <a:pPr algn="ctr"/>
            <a:r>
              <a:rPr sz="1000" b="0">
                <a:solidFill>
                  <a:srgbClr val="55606D"/>
                </a:solidFill>
                <a:latin typeface="Calibri"/>
              </a:rPr>
              <a:t>(7 players, coalitions)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0911535" y="3246120"/>
            <a:ext cx="0" cy="32004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The limitation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C0392B"/>
                </a:solidFill>
                <a:latin typeface="Calibri"/>
              </a:rPr>
              <a:t>Fixed strategies. No adaptation.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11535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55606D"/>
                </a:solidFill>
                <a:latin typeface="Calibri"/>
              </a:rPr>
              <a:t>The same policy against every opponent.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3886200"/>
            <a:ext cx="2194560" cy="1097280"/>
          </a:xfrm>
          <a:prstGeom prst="roundRect">
            <a:avLst/>
          </a:prstGeom>
          <a:solidFill>
            <a:srgbClr val="FAFAFB"/>
          </a:solidFill>
          <a:ln w="254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500" b="1">
                <a:solidFill>
                  <a:srgbClr val="2C333D"/>
                </a:solidFill>
                <a:latin typeface="Calibri"/>
              </a:rPr>
              <a:t>Equilibrium</a:t>
            </a:r>
          </a:p>
          <a:p>
            <a:pPr algn="ctr"/>
            <a:r>
              <a:rPr sz="1500" b="1">
                <a:solidFill>
                  <a:srgbClr val="2C333D"/>
                </a:solidFill>
                <a:latin typeface="Calibri"/>
              </a:rPr>
              <a:t>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697479"/>
            <a:ext cx="3108960" cy="914400"/>
          </a:xfrm>
          <a:prstGeom prst="roundRect">
            <a:avLst/>
          </a:prstGeom>
          <a:solidFill>
            <a:srgbClr val="FAFAFB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Cautious beginner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931920" y="3154679"/>
            <a:ext cx="3749040" cy="1280161"/>
          </a:xfrm>
          <a:prstGeom prst="line">
            <a:avLst/>
          </a:prstGeom>
          <a:ln w="22225">
            <a:solidFill>
              <a:srgbClr val="55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80960" y="3977639"/>
            <a:ext cx="3108960" cy="914400"/>
          </a:xfrm>
          <a:prstGeom prst="roundRect">
            <a:avLst/>
          </a:prstGeom>
          <a:solidFill>
            <a:srgbClr val="FAFAFB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Aggressive bluffer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4434840"/>
            <a:ext cx="3749040" cy="0"/>
          </a:xfrm>
          <a:prstGeom prst="line">
            <a:avLst/>
          </a:prstGeom>
          <a:ln w="22225">
            <a:solidFill>
              <a:srgbClr val="55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80960" y="5257800"/>
            <a:ext cx="3108960" cy="914400"/>
          </a:xfrm>
          <a:prstGeom prst="roundRect">
            <a:avLst/>
          </a:prstGeom>
          <a:solidFill>
            <a:srgbClr val="FAFAFB"/>
          </a:solidFill>
          <a:ln w="25400">
            <a:solidFill>
              <a:srgbClr val="C7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400" b="1">
                <a:solidFill>
                  <a:srgbClr val="C78A1F"/>
                </a:solidFill>
                <a:latin typeface="Calibri"/>
              </a:rPr>
              <a:t>Coordinated group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4434840"/>
            <a:ext cx="3749040" cy="1280160"/>
          </a:xfrm>
          <a:prstGeom prst="line">
            <a:avLst/>
          </a:prstGeom>
          <a:ln w="22225">
            <a:solidFill>
              <a:srgbClr val="55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8A939F"/>
                </a:solidFill>
                <a:latin typeface="Calibri"/>
              </a:rPr>
              <a:t>Safe — but blind. Systematically misses exploitable weaknesses.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Three open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2C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2200" b="1">
                <a:solidFill>
                  <a:srgbClr val="FAFAF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8308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Adaptation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5029200" cy="4114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5606D"/>
                </a:solidFill>
                <a:latin typeface="Calibri"/>
              </a:rPr>
              <a:t>infer opponents in real time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0896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2200" b="1">
                <a:solidFill>
                  <a:srgbClr val="FAFAF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6324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Calibri"/>
              </a:rPr>
              <a:t>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74720"/>
            <a:ext cx="5029200" cy="4114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5606D"/>
                </a:solidFill>
                <a:latin typeface="Calibri"/>
              </a:rPr>
              <a:t>exploit without exposing yourself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389120"/>
            <a:ext cx="640080" cy="640080"/>
          </a:xfrm>
          <a:prstGeom prst="ellipse">
            <a:avLst/>
          </a:prstGeom>
          <a:solidFill>
            <a:srgbClr val="16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2200" b="1">
                <a:solidFill>
                  <a:srgbClr val="FAFAFB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34340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168B7C"/>
                </a:solidFill>
                <a:latin typeface="Calibri"/>
              </a:rP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754880"/>
            <a:ext cx="5029200" cy="4114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5606D"/>
                </a:solidFill>
                <a:latin typeface="Calibri"/>
              </a:rPr>
              <a:t>measure if an agent adapts well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98380" y="2962392"/>
            <a:ext cx="815955" cy="1413275"/>
          </a:xfrm>
          <a:prstGeom prst="line">
            <a:avLst/>
          </a:prstGeom>
          <a:ln w="19050">
            <a:solidFill>
              <a:srgbClr val="55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876684" y="4732020"/>
            <a:ext cx="1631911" cy="0"/>
          </a:xfrm>
          <a:prstGeom prst="line">
            <a:avLst/>
          </a:prstGeom>
          <a:ln w="19050">
            <a:solidFill>
              <a:srgbClr val="55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670944" y="2962392"/>
            <a:ext cx="815956" cy="1413275"/>
          </a:xfrm>
          <a:prstGeom prst="line">
            <a:avLst/>
          </a:prstGeom>
          <a:ln w="19050">
            <a:solidFill>
              <a:srgbClr val="55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189719" y="2103120"/>
            <a:ext cx="1005840" cy="10058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100" b="1">
                <a:solidFill>
                  <a:srgbClr val="FAFAFB"/>
                </a:solidFill>
                <a:latin typeface="Calibri"/>
              </a:rPr>
              <a:t>Adaptation</a:t>
            </a:r>
          </a:p>
        </p:txBody>
      </p:sp>
      <p:sp>
        <p:nvSpPr>
          <p:cNvPr id="18" name="Oval 17"/>
          <p:cNvSpPr/>
          <p:nvPr/>
        </p:nvSpPr>
        <p:spPr>
          <a:xfrm>
            <a:off x="10417155" y="4229100"/>
            <a:ext cx="1005840" cy="10058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100" b="1">
                <a:solidFill>
                  <a:srgbClr val="FAFAFB"/>
                </a:solidFill>
                <a:latin typeface="Calibri"/>
              </a:rPr>
              <a:t>Safety</a:t>
            </a:r>
          </a:p>
        </p:txBody>
      </p:sp>
      <p:sp>
        <p:nvSpPr>
          <p:cNvPr id="19" name="Oval 18"/>
          <p:cNvSpPr/>
          <p:nvPr/>
        </p:nvSpPr>
        <p:spPr>
          <a:xfrm>
            <a:off x="7962284" y="4229100"/>
            <a:ext cx="1005840" cy="1005840"/>
          </a:xfrm>
          <a:prstGeom prst="ellipse">
            <a:avLst/>
          </a:prstGeom>
          <a:solidFill>
            <a:srgbClr val="16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100" b="1">
                <a:solidFill>
                  <a:srgbClr val="FAFAFB"/>
                </a:solidFill>
                <a:latin typeface="Calibri"/>
              </a:rP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897880"/>
            <a:ext cx="3657600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8A939F"/>
                </a:solidFill>
                <a:latin typeface="Calibri"/>
              </a:rPr>
              <a:t>inference  →  action  →  measurement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CONTRIBUTION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Behavioral Adaptation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93392"/>
            <a:ext cx="146304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2C333D"/>
                </a:solidFill>
                <a:latin typeface="Calibri"/>
              </a:rPr>
              <a:t>Infer opponent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5606D"/>
                </a:solidFill>
                <a:latin typeface="Calibri"/>
              </a:rPr>
              <a:t>not just hidden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36392"/>
            <a:ext cx="146304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2C333D"/>
                </a:solidFill>
                <a:latin typeface="Calibri"/>
              </a:rPr>
              <a:t>Adapt only when evidence is strong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5606D"/>
                </a:solidFill>
                <a:latin typeface="Calibri"/>
              </a:rPr>
              <a:t>fallback to equilibrium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79392"/>
            <a:ext cx="146304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2C333D"/>
                </a:solidFill>
                <a:latin typeface="Calibri"/>
              </a:rPr>
              <a:t>Detect anomalies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57200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5606D"/>
                </a:solidFill>
                <a:latin typeface="Calibri"/>
              </a:rPr>
              <a:t>bots  ·  collusion  ·  adversarial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291840"/>
            <a:ext cx="1554480" cy="73152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>
                <a:solidFill>
                  <a:srgbClr val="2C333D"/>
                </a:solidFill>
                <a:latin typeface="Calibri"/>
              </a:rPr>
              <a:t>Observed</a:t>
            </a:r>
          </a:p>
          <a:p>
            <a:pPr algn="ctr"/>
            <a:r>
              <a:rPr sz="1200" b="1">
                <a:solidFill>
                  <a:srgbClr val="2C333D"/>
                </a:solidFill>
                <a:latin typeface="Calibri"/>
              </a:rPr>
              <a:t>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194560"/>
            <a:ext cx="2011680" cy="777240"/>
          </a:xfrm>
          <a:prstGeom prst="roundRect">
            <a:avLst/>
          </a:prstGeom>
          <a:solidFill>
            <a:srgbClr val="DCE6F1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Belief: hidden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4297680"/>
            <a:ext cx="2011680" cy="777240"/>
          </a:xfrm>
          <a:prstGeom prst="roundRect">
            <a:avLst/>
          </a:prstGeom>
          <a:solidFill>
            <a:srgbClr val="DCE6F1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Belief: behavioural type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321040" y="2606040"/>
            <a:ext cx="457200" cy="914400"/>
          </a:xfrm>
          <a:prstGeom prst="line">
            <a:avLst/>
          </a:prstGeom>
          <a:ln w="19050">
            <a:solidFill>
              <a:srgbClr val="55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21040" y="3794760"/>
            <a:ext cx="457200" cy="868680"/>
          </a:xfrm>
          <a:prstGeom prst="line">
            <a:avLst/>
          </a:prstGeom>
          <a:ln w="19050">
            <a:solidFill>
              <a:srgbClr val="55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972800" y="3291840"/>
            <a:ext cx="914400" cy="914400"/>
          </a:xfrm>
          <a:prstGeom prst="ellipse">
            <a:avLst/>
          </a:prstGeom>
          <a:solidFill>
            <a:srgbClr val="1F4E79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100" b="1">
                <a:solidFill>
                  <a:srgbClr val="FAFAFB"/>
                </a:solidFill>
                <a:latin typeface="Calibri"/>
              </a:rPr>
              <a:t>Decide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789920" y="2606040"/>
            <a:ext cx="548640" cy="685800"/>
          </a:xfrm>
          <a:prstGeom prst="line">
            <a:avLst/>
          </a:prstGeom>
          <a:ln w="19050">
            <a:solidFill>
              <a:srgbClr val="55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789920" y="4206240"/>
            <a:ext cx="548640" cy="457200"/>
          </a:xfrm>
          <a:prstGeom prst="line">
            <a:avLst/>
          </a:prstGeom>
          <a:ln w="19050">
            <a:solidFill>
              <a:srgbClr val="55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78240" y="5486400"/>
            <a:ext cx="2011680" cy="50292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8A93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000" b="0">
                <a:solidFill>
                  <a:srgbClr val="8A939F"/>
                </a:solidFill>
                <a:latin typeface="Calibri"/>
              </a:rPr>
              <a:t>Fallback: equilibrium play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43800" y="4023360"/>
            <a:ext cx="2240280" cy="1463040"/>
          </a:xfrm>
          <a:prstGeom prst="bentConnector3">
            <a:avLst/>
          </a:prstGeom>
          <a:ln w="12700">
            <a:solidFill>
              <a:srgbClr val="8A93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0" y="5074920"/>
            <a:ext cx="1828800" cy="2743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if evidence weak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73968" y="1463039"/>
            <a:ext cx="329184" cy="292608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47120" y="1554480"/>
            <a:ext cx="64008" cy="6400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65992" y="1554480"/>
            <a:ext cx="64008" cy="6400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11338560" y="1325880"/>
            <a:ext cx="0" cy="137159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301984" y="1261872"/>
            <a:ext cx="73152" cy="7315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1828800"/>
            <a:ext cx="1554480" cy="2743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8A939F"/>
                </a:solidFill>
                <a:latin typeface="Calibri"/>
              </a:rPr>
              <a:t>anomaly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CONTRIBUTION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Multi-Agent Safe Exploitation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93392"/>
            <a:ext cx="146304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2C333D"/>
                </a:solidFill>
                <a:latin typeface="Calibri"/>
              </a:rPr>
              <a:t>Exploit detected weaknesses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5606D"/>
                </a:solidFill>
                <a:latin typeface="Calibri"/>
              </a:rPr>
              <a:t>act on the inferred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36392"/>
            <a:ext cx="146304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2C333D"/>
                </a:solidFill>
                <a:latin typeface="Calibri"/>
              </a:rPr>
              <a:t>Stay close to a reference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5606D"/>
                </a:solidFill>
                <a:latin typeface="Calibri"/>
              </a:rPr>
              <a:t>πKL  regularisation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79392"/>
            <a:ext cx="146304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2C333D"/>
                </a:solidFill>
                <a:latin typeface="Calibri"/>
              </a:rPr>
              <a:t>Useful safety heuristics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57200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5606D"/>
                </a:solidFill>
                <a:latin typeface="Calibri"/>
              </a:rPr>
              <a:t>beyond two-player guarantees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011680"/>
            <a:ext cx="201168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Exploit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011680"/>
            <a:ext cx="201168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Reference 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017520"/>
            <a:ext cx="4846320" cy="18288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0" y="3017520"/>
            <a:ext cx="2180844" cy="182880"/>
          </a:xfrm>
          <a:prstGeom prst="roundRect">
            <a:avLst/>
          </a:prstGeom>
          <a:solidFill>
            <a:srgbClr val="F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949440" y="2880360"/>
            <a:ext cx="0" cy="137160"/>
          </a:xfrm>
          <a:prstGeom prst="line">
            <a:avLst/>
          </a:prstGeom>
          <a:ln w="127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61020" y="2880360"/>
            <a:ext cx="0" cy="137160"/>
          </a:xfrm>
          <a:prstGeom prst="line">
            <a:avLst/>
          </a:prstGeom>
          <a:ln w="127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72600" y="2880360"/>
            <a:ext cx="0" cy="137160"/>
          </a:xfrm>
          <a:prstGeom prst="line">
            <a:avLst/>
          </a:prstGeom>
          <a:ln w="127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84180" y="2880360"/>
            <a:ext cx="0" cy="137160"/>
          </a:xfrm>
          <a:prstGeom prst="line">
            <a:avLst/>
          </a:prstGeom>
          <a:ln w="127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795760" y="2880360"/>
            <a:ext cx="0" cy="137160"/>
          </a:xfrm>
          <a:prstGeom prst="line">
            <a:avLst/>
          </a:prstGeom>
          <a:ln w="12700">
            <a:solidFill>
              <a:srgbClr val="55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81060" y="2816352"/>
            <a:ext cx="329184" cy="594360"/>
          </a:xfrm>
          <a:prstGeom prst="roundRect">
            <a:avLst/>
          </a:prstGeom>
          <a:solidFill>
            <a:srgbClr val="2C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611880"/>
            <a:ext cx="484632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8A939F"/>
                </a:solidFill>
                <a:latin typeface="Calibri"/>
              </a:rPr>
              <a:t>constrained by  πKL  band around reference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4572000"/>
            <a:ext cx="5212080" cy="1371600"/>
          </a:xfrm>
          <a:prstGeom prst="roundRect">
            <a:avLst/>
          </a:prstGeom>
          <a:solidFill>
            <a:srgbClr val="FAFAFB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100" b="0">
                <a:solidFill>
                  <a:srgbClr val="55606D"/>
                </a:solidFill>
                <a:latin typeface="Calibri"/>
              </a:rPr>
              <a:t>Reference policy:</a:t>
            </a:r>
          </a:p>
          <a:p>
            <a:pPr algn="ctr"/>
            <a:r>
              <a:rPr sz="1100" b="0">
                <a:solidFill>
                  <a:srgbClr val="55606D"/>
                </a:solidFill>
                <a:latin typeface="Calibri"/>
              </a:rPr>
              <a:t>population average  ·  human-behaviour prior  ·  approximate equilibrium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20640"/>
            <a:ext cx="5669280" cy="914400"/>
          </a:xfrm>
          <a:prstGeom prst="roundRect">
            <a:avLst/>
          </a:prstGeom>
          <a:solidFill>
            <a:srgbClr val="F7DDD9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>
                <a:solidFill>
                  <a:srgbClr val="C0392B"/>
                </a:solidFill>
                <a:latin typeface="Calibri"/>
              </a:rPr>
              <a:t>Two-player safety guarantees provably fail at  N ≥ 3.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68B7C"/>
                </a:solidFill>
                <a:latin typeface="Calibri"/>
              </a:rPr>
              <a:t>CONTRIBUTION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Evaluation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16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93392"/>
            <a:ext cx="146304" cy="146304"/>
          </a:xfrm>
          <a:prstGeom prst="rect">
            <a:avLst/>
          </a:prstGeom>
          <a:solidFill>
            <a:srgbClr val="16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2C333D"/>
                </a:solidFill>
                <a:latin typeface="Calibri"/>
              </a:rPr>
              <a:t>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5606D"/>
                </a:solidFill>
                <a:latin typeface="Calibri"/>
              </a:rPr>
              <a:t>worst-case vulnerability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36392"/>
            <a:ext cx="146304" cy="146304"/>
          </a:xfrm>
          <a:prstGeom prst="rect">
            <a:avLst/>
          </a:prstGeom>
          <a:solidFill>
            <a:srgbClr val="16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2C333D"/>
                </a:solidFill>
                <a:latin typeface="Calibri"/>
              </a:rPr>
              <a:t>Population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5606D"/>
                </a:solidFill>
                <a:latin typeface="Calibri"/>
              </a:rPr>
              <a:t>non-transitive dynamics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79392"/>
            <a:ext cx="146304" cy="146304"/>
          </a:xfrm>
          <a:prstGeom prst="rect">
            <a:avLst/>
          </a:prstGeom>
          <a:solidFill>
            <a:srgbClr val="16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2C333D"/>
                </a:solidFill>
                <a:latin typeface="Calibri"/>
              </a:rPr>
              <a:t>Statistical 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57200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5606D"/>
                </a:solidFill>
                <a:latin typeface="Calibri"/>
              </a:rPr>
              <a:t>variance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297680"/>
            <a:ext cx="4206240" cy="841248"/>
          </a:xfrm>
          <a:prstGeom prst="roundRect">
            <a:avLst/>
          </a:prstGeom>
          <a:solidFill>
            <a:srgbClr val="D4ECE7"/>
          </a:solidFill>
          <a:ln w="19050">
            <a:solidFill>
              <a:srgbClr val="168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4389120"/>
            <a:ext cx="3840479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2C333D"/>
                </a:solidFill>
                <a:latin typeface="Calibri"/>
              </a:rPr>
              <a:t>Statistical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709160"/>
            <a:ext cx="3840479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68B7C"/>
                </a:solidFill>
                <a:latin typeface="Calibri"/>
              </a:rPr>
              <a:t>AIVAT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383280"/>
            <a:ext cx="4206240" cy="841248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168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3474720"/>
            <a:ext cx="3840479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2C333D"/>
                </a:solidFill>
                <a:latin typeface="Calibri"/>
              </a:rPr>
              <a:t>Population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794760"/>
            <a:ext cx="3840479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68B7C"/>
                </a:solidFill>
                <a:latin typeface="Calibri"/>
              </a:rPr>
              <a:t>α-Rank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468880"/>
            <a:ext cx="4206240" cy="841248"/>
          </a:xfrm>
          <a:prstGeom prst="roundRect">
            <a:avLst/>
          </a:prstGeom>
          <a:solidFill>
            <a:srgbClr val="D4ECE7"/>
          </a:solidFill>
          <a:ln w="19050">
            <a:solidFill>
              <a:srgbClr val="168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560320"/>
            <a:ext cx="3840479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2C333D"/>
                </a:solidFill>
                <a:latin typeface="Calibri"/>
              </a:rPr>
              <a:t>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880360"/>
            <a:ext cx="3840479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68B7C"/>
                </a:solidFill>
                <a:latin typeface="Calibri"/>
              </a:rPr>
              <a:t>N-player exploitability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58600" y="3657600"/>
            <a:ext cx="3657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8A939F"/>
                </a:solidFill>
                <a:latin typeface="Calibri"/>
              </a:rPr>
              <a:t>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32920" y="3657600"/>
            <a:ext cx="3657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8A939F"/>
                </a:solidFill>
                <a:latin typeface="Calibri"/>
              </a:rPr>
              <a:t>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07240" y="3657600"/>
            <a:ext cx="3657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8A939F"/>
                </a:solidFill>
                <a:latin typeface="Calibri"/>
              </a:rPr>
              <a:t>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349240"/>
            <a:ext cx="4206240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8A939F"/>
                </a:solidFill>
                <a:latin typeface="Calibri"/>
              </a:rPr>
              <a:t>validated across structurally different game types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2C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72887" cy="4297680"/>
          </a:xfrm>
          <a:prstGeom prst="roundRect">
            <a:avLst/>
          </a:prstGeom>
          <a:solidFill>
            <a:srgbClr val="FAFAFB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24247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REALISTIC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724247" cy="5486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2C333D"/>
                </a:solidFill>
                <a:latin typeface="Calibri"/>
              </a:rPr>
              <a:t>What the thesis will deliver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319272"/>
            <a:ext cx="146304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154680"/>
            <a:ext cx="4449927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2C333D"/>
                </a:solidFill>
                <a:latin typeface="Calibri"/>
              </a:rPr>
              <a:t>Validated adaptation methods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959352"/>
            <a:ext cx="146304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794760"/>
            <a:ext cx="4449927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2C333D"/>
                </a:solidFill>
                <a:latin typeface="Calibri"/>
              </a:rPr>
              <a:t>Characterised safety heuristics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599432"/>
            <a:ext cx="146304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434840"/>
            <a:ext cx="4449927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2C333D"/>
                </a:solidFill>
                <a:latin typeface="Calibri"/>
              </a:rPr>
              <a:t>Working evaluation framework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5239512"/>
            <a:ext cx="146304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074920"/>
            <a:ext cx="4449927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2C333D"/>
                </a:solidFill>
                <a:latin typeface="Calibri"/>
              </a:rPr>
              <a:t>Failure modes documented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1691640"/>
            <a:ext cx="5272887" cy="429768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1920240"/>
            <a:ext cx="4724247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8A939F"/>
                </a:solidFill>
                <a:latin typeface="Calibri"/>
              </a:rPr>
              <a:t>STRETCH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2331720"/>
            <a:ext cx="4724247" cy="5486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55606D"/>
                </a:solidFill>
                <a:latin typeface="Calibri"/>
              </a:rPr>
              <a:t>If the work goes deeper</a:t>
            </a:r>
          </a:p>
        </p:txBody>
      </p:sp>
      <p:sp>
        <p:nvSpPr>
          <p:cNvPr id="19" name="Oval 18"/>
          <p:cNvSpPr/>
          <p:nvPr/>
        </p:nvSpPr>
        <p:spPr>
          <a:xfrm>
            <a:off x="6644487" y="3355848"/>
            <a:ext cx="109728" cy="109728"/>
          </a:xfrm>
          <a:prstGeom prst="ellipse">
            <a:avLst/>
          </a:prstGeom>
          <a:solidFill>
            <a:srgbClr val="8A9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8807" y="3154680"/>
            <a:ext cx="4449927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5606D"/>
                </a:solidFill>
                <a:latin typeface="Calibri"/>
              </a:rPr>
              <a:t>Theoretical extensions of the safety theorem</a:t>
            </a:r>
          </a:p>
        </p:txBody>
      </p:sp>
      <p:sp>
        <p:nvSpPr>
          <p:cNvPr id="21" name="Oval 20"/>
          <p:cNvSpPr/>
          <p:nvPr/>
        </p:nvSpPr>
        <p:spPr>
          <a:xfrm>
            <a:off x="6644487" y="3995928"/>
            <a:ext cx="109728" cy="109728"/>
          </a:xfrm>
          <a:prstGeom prst="ellipse">
            <a:avLst/>
          </a:prstGeom>
          <a:solidFill>
            <a:srgbClr val="8A9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8807" y="3794760"/>
            <a:ext cx="4449927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5606D"/>
                </a:solidFill>
                <a:latin typeface="Calibri"/>
              </a:rPr>
              <a:t>Novel combinations across contributions</a:t>
            </a:r>
          </a:p>
        </p:txBody>
      </p:sp>
      <p:sp>
        <p:nvSpPr>
          <p:cNvPr id="23" name="Oval 22"/>
          <p:cNvSpPr/>
          <p:nvPr/>
        </p:nvSpPr>
        <p:spPr>
          <a:xfrm>
            <a:off x="6644487" y="4636008"/>
            <a:ext cx="109728" cy="109728"/>
          </a:xfrm>
          <a:prstGeom prst="ellipse">
            <a:avLst/>
          </a:prstGeom>
          <a:solidFill>
            <a:srgbClr val="8A9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8807" y="4434840"/>
            <a:ext cx="4449927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5606D"/>
                </a:solidFill>
                <a:latin typeface="Calibri"/>
              </a:rPr>
              <a:t>Surprising empirical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8A939F"/>
                </a:solidFill>
                <a:latin typeface="Calibri"/>
              </a:rPr>
              <a:t>Grounded outcomes already constitute a coherent thesis. No pivot required.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2C333D"/>
                </a:solidFill>
                <a:latin typeface="Calibri"/>
              </a:rPr>
              <a:t>Today  →  Tomorrow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548640" cy="54864"/>
          </a:xfrm>
          <a:prstGeom prst="rect">
            <a:avLst/>
          </a:prstGeom>
          <a:solidFill>
            <a:srgbClr val="2C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55606D"/>
                </a:solidFill>
                <a:latin typeface="Calibri"/>
              </a:rPr>
              <a:t>The gap between today’s deployed systems and the next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4206240" cy="310896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3657599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8A939F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3657599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2C333D"/>
                </a:solidFill>
                <a:latin typeface="Calibri"/>
              </a:rPr>
              <a:t>Fixed-strategy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4005072"/>
            <a:ext cx="128016" cy="128016"/>
          </a:xfrm>
          <a:prstGeom prst="rect">
            <a:avLst/>
          </a:prstGeom>
          <a:solidFill>
            <a:srgbClr val="8A9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840480"/>
            <a:ext cx="3383279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5606D"/>
                </a:solidFill>
                <a:latin typeface="Calibri"/>
              </a:rPr>
              <a:t>Equilibrium solvers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4507992"/>
            <a:ext cx="128016" cy="128016"/>
          </a:xfrm>
          <a:prstGeom prst="rect">
            <a:avLst/>
          </a:prstGeom>
          <a:solidFill>
            <a:srgbClr val="8A9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343400"/>
            <a:ext cx="3383279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5606D"/>
                </a:solidFill>
                <a:latin typeface="Calibri"/>
              </a:rPr>
              <a:t>Identical play vs. every opponent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5010912"/>
            <a:ext cx="128016" cy="128016"/>
          </a:xfrm>
          <a:prstGeom prst="rect">
            <a:avLst/>
          </a:prstGeom>
          <a:solidFill>
            <a:srgbClr val="8A9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846320"/>
            <a:ext cx="3383279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5606D"/>
                </a:solidFill>
                <a:latin typeface="Calibri"/>
              </a:rPr>
              <a:t>Two-player safety guarantees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4960" y="4023360"/>
            <a:ext cx="1463040" cy="0"/>
          </a:xfrm>
          <a:prstGeom prst="line">
            <a:avLst/>
          </a:prstGeom>
          <a:ln w="31750">
            <a:solidFill>
              <a:srgbClr val="2C3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0" y="4069080"/>
            <a:ext cx="1371600" cy="3200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8A939F"/>
                </a:solidFill>
                <a:latin typeface="Calibri"/>
              </a:rPr>
              <a:t>thesis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2468880"/>
            <a:ext cx="4206240" cy="3108960"/>
          </a:xfrm>
          <a:prstGeom prst="roundRect">
            <a:avLst/>
          </a:prstGeom>
          <a:solidFill>
            <a:srgbClr val="FAFAFB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743200"/>
            <a:ext cx="3657599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NEXT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3657599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2C333D"/>
                </a:solidFill>
                <a:latin typeface="Calibri"/>
              </a:rPr>
              <a:t>Adaptive, safe, accountable agents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4005072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840480"/>
            <a:ext cx="3383279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2C333D"/>
                </a:solidFill>
                <a:latin typeface="Calibri"/>
              </a:rPr>
              <a:t>Adaptation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4507992"/>
            <a:ext cx="128016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4343400"/>
            <a:ext cx="3383279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2C333D"/>
                </a:solidFill>
                <a:latin typeface="Calibri"/>
              </a:rPr>
              <a:t>Safety beyond two players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5010912"/>
            <a:ext cx="128016" cy="128016"/>
          </a:xfrm>
          <a:prstGeom prst="rect">
            <a:avLst/>
          </a:prstGeom>
          <a:solidFill>
            <a:srgbClr val="16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4846320"/>
            <a:ext cx="3383279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2C333D"/>
                </a:solidFill>
                <a:latin typeface="Calibri"/>
              </a:rPr>
              <a:t>Systematic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2C333D"/>
                </a:solidFill>
                <a:latin typeface="Calibri"/>
              </a:rPr>
              <a:t>Thank you.   Questions welcome.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ru-logo-125x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228600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6519672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8A939F"/>
                </a:solidFill>
                <a:latin typeface="Calibri"/>
              </a:rPr>
              <a:t>Ruse University Academic Session  · 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8A939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