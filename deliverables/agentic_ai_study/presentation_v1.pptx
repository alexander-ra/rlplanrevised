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9e2acc59ab54953" /><Relationship Type="http://schemas.openxmlformats.org/officeDocument/2006/relationships/extended-properties" Target="/docProps/app.xml" Id="Rdb42319c34304499" /><Relationship Type="http://schemas.openxmlformats.org/officeDocument/2006/relationships/officeDocument" Target="/ppt/presentation.xml" Id="Rdf2c387f7dbb4520" /></Relationships>
</file>

<file path=ppt/presentation.xml><?xml version="1.0" encoding="utf-8"?>
<p:presentation xmlns:p="http://schemas.openxmlformats.org/presentationml/2006/main">
  <p:sldMasterIdLst>
    <p:sldMasterId xmlns:r="http://schemas.openxmlformats.org/officeDocument/2006/relationships" id="2147483648" r:id="Rff0e09f2e4eb4eec"/>
  </p:sldMasterIdLst>
  <p:notesMasterIdLst>
    <p:notesMasterId xmlns:r="http://schemas.openxmlformats.org/officeDocument/2006/relationships" r:id="Re94b109b0ae84a27"/>
  </p:notesMasterIdLst>
  <p:sldIdLst>
    <p:sldId xmlns:r="http://schemas.openxmlformats.org/officeDocument/2006/relationships" id="256" r:id="R1ec4dc8fd57b4312"/>
    <p:sldId xmlns:r="http://schemas.openxmlformats.org/officeDocument/2006/relationships" id="257" r:id="R8b016efb748c40f4"/>
    <p:sldId xmlns:r="http://schemas.openxmlformats.org/officeDocument/2006/relationships" id="258" r:id="Re8d656686cbb4502"/>
    <p:sldId xmlns:r="http://schemas.openxmlformats.org/officeDocument/2006/relationships" id="259" r:id="R68737beef67b4e62"/>
    <p:sldId xmlns:r="http://schemas.openxmlformats.org/officeDocument/2006/relationships" id="260" r:id="R6c6c640c15054dd9"/>
    <p:sldId xmlns:r="http://schemas.openxmlformats.org/officeDocument/2006/relationships" id="261" r:id="R6c27f5718f9c468d"/>
    <p:sldId xmlns:r="http://schemas.openxmlformats.org/officeDocument/2006/relationships" id="262" r:id="Re78ee6371ed5428c"/>
    <p:sldId xmlns:r="http://schemas.openxmlformats.org/officeDocument/2006/relationships" id="263" r:id="R8a109143321c4831"/>
    <p:sldId xmlns:r="http://schemas.openxmlformats.org/officeDocument/2006/relationships" id="264" r:id="R0aaa4157266f40b9"/>
    <p:sldId xmlns:r="http://schemas.openxmlformats.org/officeDocument/2006/relationships" id="265" r:id="Rf93fda7d6bc745a7"/>
    <p:sldId xmlns:r="http://schemas.openxmlformats.org/officeDocument/2006/relationships" id="266" r:id="Ra4b9d8136e4c4c9b"/>
    <p:sldId xmlns:r="http://schemas.openxmlformats.org/officeDocument/2006/relationships" id="267" r:id="R0df655f427684bf1"/>
    <p:sldId xmlns:r="http://schemas.openxmlformats.org/officeDocument/2006/relationships" id="268" r:id="R94c5a35d46d04865"/>
    <p:sldId xmlns:r="http://schemas.openxmlformats.org/officeDocument/2006/relationships" id="269" r:id="Rc12ef92ef8f84e12"/>
    <p:sldId xmlns:r="http://schemas.openxmlformats.org/officeDocument/2006/relationships" id="270" r:id="R2a666d685f9f4d92"/>
    <p:sldId xmlns:r="http://schemas.openxmlformats.org/officeDocument/2006/relationships" id="271" r:id="R8cd9793e3eac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e423b185584dc0" /><Relationship Type="http://schemas.openxmlformats.org/officeDocument/2006/relationships/slideMaster" Target="/ppt/slideMasters/slideMaster1.xml" Id="Rff0e09f2e4eb4eec" /><Relationship Type="http://schemas.openxmlformats.org/officeDocument/2006/relationships/notesMaster" Target="/ppt/notesMasters/notesMaster1.xml" Id="Re94b109b0ae84a27" /><Relationship Type="http://schemas.openxmlformats.org/officeDocument/2006/relationships/presProps" Target="/ppt/presProps.xml" Id="Rc045ccc9a6434e13" /><Relationship Type="http://schemas.openxmlformats.org/officeDocument/2006/relationships/tableStyles" Target="/ppt/tableStyles.xml" Id="Rbd6e8536f890449e" /><Relationship Type="http://schemas.openxmlformats.org/officeDocument/2006/relationships/slide" Target="/ppt/slides/slide1.xml" Id="R1ec4dc8fd57b4312" /><Relationship Type="http://schemas.openxmlformats.org/officeDocument/2006/relationships/slide" Target="/ppt/slides/slide2.xml" Id="R8b016efb748c40f4" /><Relationship Type="http://schemas.openxmlformats.org/officeDocument/2006/relationships/slide" Target="/ppt/slides/slide3.xml" Id="Re8d656686cbb4502" /><Relationship Type="http://schemas.openxmlformats.org/officeDocument/2006/relationships/slide" Target="/ppt/slides/slide4.xml" Id="R68737beef67b4e62" /><Relationship Type="http://schemas.openxmlformats.org/officeDocument/2006/relationships/slide" Target="/ppt/slides/slide5.xml" Id="R6c6c640c15054dd9" /><Relationship Type="http://schemas.openxmlformats.org/officeDocument/2006/relationships/slide" Target="/ppt/slides/slide6.xml" Id="R6c27f5718f9c468d" /><Relationship Type="http://schemas.openxmlformats.org/officeDocument/2006/relationships/slide" Target="/ppt/slides/slide7.xml" Id="Re78ee6371ed5428c" /><Relationship Type="http://schemas.openxmlformats.org/officeDocument/2006/relationships/slide" Target="/ppt/slides/slide8.xml" Id="R8a109143321c4831" /><Relationship Type="http://schemas.openxmlformats.org/officeDocument/2006/relationships/slide" Target="/ppt/slides/slide9.xml" Id="R0aaa4157266f40b9" /><Relationship Type="http://schemas.openxmlformats.org/officeDocument/2006/relationships/slide" Target="/ppt/slides/slide10.xml" Id="Rf93fda7d6bc745a7" /><Relationship Type="http://schemas.openxmlformats.org/officeDocument/2006/relationships/slide" Target="/ppt/slides/slide11.xml" Id="Ra4b9d8136e4c4c9b" /><Relationship Type="http://schemas.openxmlformats.org/officeDocument/2006/relationships/slide" Target="/ppt/slides/slide12.xml" Id="R0df655f427684bf1" /><Relationship Type="http://schemas.openxmlformats.org/officeDocument/2006/relationships/slide" Target="/ppt/slides/slide13.xml" Id="R94c5a35d46d04865" /><Relationship Type="http://schemas.openxmlformats.org/officeDocument/2006/relationships/slide" Target="/ppt/slides/slide14.xml" Id="Rc12ef92ef8f84e12" /><Relationship Type="http://schemas.openxmlformats.org/officeDocument/2006/relationships/slide" Target="/ppt/slides/slide15.xml" Id="R2a666d685f9f4d92" /><Relationship Type="http://schemas.openxmlformats.org/officeDocument/2006/relationships/slide" Target="/ppt/slides/slide16.xml" Id="R8cd9793e3eac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7e06f4c18b4e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003c0dfef2492f" /><Relationship Type="http://schemas.openxmlformats.org/officeDocument/2006/relationships/notesMaster" Target="/ppt/notesMasters/notesMaster1.xml" Id="Rdcd3c0b886f0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bd2752209c49a2" /><Relationship Type="http://schemas.openxmlformats.org/officeDocument/2006/relationships/notesMaster" Target="/ppt/notesMasters/notesMaster1.xml" Id="R260c5947b9d74d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9ae30703894b5d" /><Relationship Type="http://schemas.openxmlformats.org/officeDocument/2006/relationships/notesMaster" Target="/ppt/notesMasters/notesMaster1.xml" Id="R844ca918ca554f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47e61356e34174" /><Relationship Type="http://schemas.openxmlformats.org/officeDocument/2006/relationships/notesMaster" Target="/ppt/notesMasters/notesMaster1.xml" Id="R54a13738af0349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9b582610d94f29" /><Relationship Type="http://schemas.openxmlformats.org/officeDocument/2006/relationships/notesMaster" Target="/ppt/notesMasters/notesMaster1.xml" Id="Ra0b8356465394b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959553616e4167" /><Relationship Type="http://schemas.openxmlformats.org/officeDocument/2006/relationships/notesMaster" Target="/ppt/notesMasters/notesMaster1.xml" Id="R9f72293cc89b4b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cad219bace4b48" /><Relationship Type="http://schemas.openxmlformats.org/officeDocument/2006/relationships/notesMaster" Target="/ppt/notesMasters/notesMaster1.xml" Id="Rc6bd141dee8f44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c8bb4c77974dbe" /><Relationship Type="http://schemas.openxmlformats.org/officeDocument/2006/relationships/notesMaster" Target="/ppt/notesMasters/notesMaster1.xml" Id="R139f74ea59b649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5796fb31194af0" /><Relationship Type="http://schemas.openxmlformats.org/officeDocument/2006/relationships/notesMaster" Target="/ppt/notesMasters/notesMaster1.xml" Id="R1694a922d2e140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c7bc43de3241df" /><Relationship Type="http://schemas.openxmlformats.org/officeDocument/2006/relationships/notesMaster" Target="/ppt/notesMasters/notesMaster1.xml" Id="R3f9c8eb36b3e47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df0da946d34d07" /><Relationship Type="http://schemas.openxmlformats.org/officeDocument/2006/relationships/notesMaster" Target="/ppt/notesMasters/notesMaster1.xml" Id="R45dc93f744b043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cfc9d6ab224e42" /><Relationship Type="http://schemas.openxmlformats.org/officeDocument/2006/relationships/notesMaster" Target="/ppt/notesMasters/notesMaster1.xml" Id="R1e5a5506b5ff4c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4597ff166d4af2" /><Relationship Type="http://schemas.openxmlformats.org/officeDocument/2006/relationships/notesMaster" Target="/ppt/notesMasters/notesMaster1.xml" Id="Rf876a63a68e647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ed280b7a4407d" /><Relationship Type="http://schemas.openxmlformats.org/officeDocument/2006/relationships/notesMaster" Target="/ppt/notesMasters/notesMaster1.xml" Id="R6e1569facfb548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c72739da5a42e5" /><Relationship Type="http://schemas.openxmlformats.org/officeDocument/2006/relationships/notesMaster" Target="/ppt/notesMasters/notesMaster1.xml" Id="R9446502a097e40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331634a2514fe0" /><Relationship Type="http://schemas.openxmlformats.org/officeDocument/2006/relationships/notesMaster" Target="/ppt/notesMasters/notesMaster1.xml" Id="R35d65e9df9ac4c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Suppose we give an AI a substantial task and return a week later. We want it to keep working, check its results and find a better approach when the first one fails. Those abilities are useful. They also make an important question harder: how does the system distinguish an obstacle it should overcome from a boundary it must respect? We will examine the mechanisms behind both opportunities and risks.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There are two different processes here. During training, supervised examples demonstrate desirable responses, while reinforcement learning scores generated attempts and changes the model to increase expected reward. Human feedback can participate in either process. During operation, the trained model receives a task, chooses an action, observes the result and chooses again. Tools and memory extend what it can do. Revising a plan or writing a memory file does not necessarily update the model's parameters. The distinction matters because behavior comes from both the learned model and the software that permits or rejects its actions.</a:t>
            </a:r>
          </a:p>
          <a:p xmlns:a="http://schemas.openxmlformats.org/drawingml/2006/main">
            <a:r>
              <a:t/>
            </a:r>
          </a:p>
          <a:p xmlns:a="http://schemas.openxmlformats.org/drawingml/2006/main">
            <a:r>
              <a:t>Sources</a:t>
            </a:r>
          </a:p>
          <a:p xmlns:a="http://schemas.openxmlformats.org/drawingml/2006/main">
            <a:r>
              <a:t>https://arxiv.org/abs/2203.02155</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Imagine a process with one thousand required steps. If each step succeeds 99.9 percent of the time, independent failures and no recovery give only about 37 percent probability that every step succeeds. At 99.99 percent per step, that becomes about 90 percent. These numbers are a teaching calculation, not model benchmarks. Actual errors are often correlated, and real agents can recover. The point is that a good short answer does not establish reliable completion of a long process. Recovery is what makes the next part interesting.</a:t>
            </a:r>
          </a:p>
          <a:p xmlns:a="http://schemas.openxmlformats.org/drawingml/2006/main">
            <a:r>
              <a:t/>
            </a:r>
          </a:p>
          <a:p xmlns:a="http://schemas.openxmlformats.org/drawingml/2006/main">
            <a:r>
              <a:t>Sources</a:t>
            </a:r>
          </a:p>
          <a:p xmlns:a="http://schemas.openxmlformats.org/drawingml/2006/main">
            <a:r>
              <a:t>Author calculation: p^n. Equal independent step probabilities, all steps required, no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Tools can improve unaided reasoning by carrying out calculations, finding evidence or running tests. Consider a mathematical idea. The agent proposes an argument, checks a necessary intermediate claim with code, discovers a counterexample and returns to revise the argument. That loop can rescue a failed first attempt. A test only verifies what it actually checks, however. The system might test the wrong claim, and asking the same model whether it is correct can repeat the same mistake. Backtracking also has limits. A draft can be restored, while information already disclosed cannot simply be taken back.</a:t>
            </a:r>
          </a:p>
          <a:p xmlns:a="http://schemas.openxmlformats.org/drawingml/2006/main">
            <a:r>
              <a:t/>
            </a:r>
          </a:p>
          <a:p xmlns:a="http://schemas.openxmlformats.org/drawingml/2006/main">
            <a:r>
              <a:t>Sources</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Horizontal scaling spends computation across attempts or workers. Early self-consistency methods sampled several reasoning paths and combined their answers. Multiple agents add division of labour and exchange of findings. Newer models may be trained to delegate, rather than relying only on orchestration added around them. These approaches coexist. Sampling temperature can provide variation, but five agents sharing one false assumption are not five independent confirmations. We should compare teams with a single agent given comparable resources, and ask whether the task can actually be divided.</a:t>
            </a:r>
          </a:p>
          <a:p xmlns:a="http://schemas.openxmlformats.org/drawingml/2006/main">
            <a:r>
              <a:t/>
            </a:r>
          </a:p>
          <a:p xmlns:a="http://schemas.openxmlformats.org/drawingml/2006/main">
            <a:r>
              <a:t>Sources</a:t>
            </a:r>
          </a:p>
          <a:p xmlns:a="http://schemas.openxmlformats.org/drawingml/2006/main">
            <a:r>
              <a:t>https://arxiv.org/abs/2203.11171</a:t>
            </a:r>
          </a:p>
          <a:p xmlns:a="http://schemas.openxmlformats.org/drawingml/2006/main">
            <a:r>
              <a:t>https://www.anthropic.com/engineering/multi-agent-research-system</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Training alongside other agents creates a changing environment. Competition exposes weaknesses and can make the next challenge harder. Cooperation rewards useful specialization and information exchange. Hide-and-seek research illustrates both: agents cooperate within teams and compete between teams, discovering new strategies and tool use. Current OpenAI documentation also explicitly describes trained delegation in Astra, although it does not disclose a complete cooperative RL recipe. The question relevant to my thesis is how an agent should infer and adapt to other agents' strategies, including when their behavior changes or they coordinate.</a:t>
            </a:r>
          </a:p>
          <a:p xmlns:a="http://schemas.openxmlformats.org/drawingml/2006/main">
            <a:r>
              <a:t/>
            </a:r>
          </a:p>
          <a:p xmlns:a="http://schemas.openxmlformats.org/drawingml/2006/main">
            <a:r>
              <a:t>Sources</a:t>
            </a:r>
          </a:p>
          <a:p xmlns:a="http://schemas.openxmlformats.org/drawingml/2006/main">
            <a:r>
              <a:t>https://arxiv.org/abs/1909.07528</a:t>
            </a:r>
          </a:p>
          <a:p xmlns:a="http://schemas.openxmlformats.org/drawingml/2006/main">
            <a:r>
              <a:t>https://arxiv.org/abs/1605.06676</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Two mathematical examples show complementary approaches. For Erdős problem 728, a published write-up explains a Lean proof from a system using GPT-5.2 Pro and Aristotle, with human operation. The Navier–Stokes report describes groups exploring alternatives, exchanging intermediate findings and formalizing a result. We attribute that second result to OpenAI rather than claiming to have independently assessed the proof. Formal verification checks a formal statement under its assumptions. Establishing novelty and checking that the statement captures the intended problem still require scrutiny. Neither example alone isolates the benefit of agent count.</a:t>
            </a:r>
          </a:p>
          <a:p xmlns:a="http://schemas.openxmlformats.org/drawingml/2006/main">
            <a:r>
              <a:t/>
            </a:r>
          </a:p>
          <a:p xmlns:a="http://schemas.openxmlformats.org/drawingml/2006/main">
            <a:r>
              <a:t>Sources</a:t>
            </a:r>
          </a:p>
          <a:p xmlns:a="http://schemas.openxmlformats.org/drawingml/2006/main">
            <a:r>
              <a:t>https://arxiv.org/abs/2601.07421</a:t>
            </a:r>
          </a:p>
          <a:p xmlns:a="http://schemas.openxmlformats.org/drawingml/2006/main">
            <a:r>
              <a:t>https://openai.com/index/navier-stokes-solution/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This chart deliberately uses a narrow, auditable source: the standalone AI category in the Erdős contribution wiki. It shows distinct problems with recorded entries and those marked fully resolved in the June cutoff. Dates refer to contributions, not the dates reviewers approved them. The source is selected and retrospective. It cannot tell us an overall success rate or establish exponential growth. Still, it places concrete results alongside incorrect and unverified work. The parallel in open source is review capacity. curl accepts checked AI-assisted code, but its maintainer reported severe burden from poor vulnerability reports and ended the bounty program.</a:t>
            </a:r>
          </a:p>
          <a:p xmlns:a="http://schemas.openxmlformats.org/drawingml/2006/main">
            <a:r>
              <a:t/>
            </a:r>
          </a:p>
          <a:p xmlns:a="http://schemas.openxmlformats.org/drawingml/2006/main">
            <a:r>
              <a:t>Sources</a:t>
            </a:r>
          </a:p>
          <a:p xmlns:a="http://schemas.openxmlformats.org/drawingml/2006/main">
            <a:r>
              <a:t>https://github.com/teorth/erdosproblems/wiki/AI-contributions-to-Erd%C5%91s-problems</a:t>
            </a:r>
          </a:p>
          <a:p xmlns:a="http://schemas.openxmlformats.org/drawingml/2006/main">
            <a:r>
              <a:t>https://daniel.haxx.se/blog/2026/01/26/the-end-of-the-curl-bug-bounty/</a:t>
            </a:r>
          </a:p>
          <a:p xmlns:a="http://schemas.openxmlformats.org/drawingml/2006/main">
            <a:r>
              <a:t>https://github.com/curl/curl/blob/master/docs/CONTRIBUTE.md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A cooking assistant should help with beef or chicken and keep the cook's fingers safe. The joke is simple, but the distinction matters: a useful capability needs boundaries on its application. In software, the same ability to identify a vulnerability can help an authorized repair or support unauthorized access. Context helps distinguish these purposes, but the context can contain a false claim of permission. We should separate ordinary error, manipulation by misleading information, and behavior aimed at evading a restriction. One agent's unchecked statement can spread through shared memory without every later agent having malicious intentions.</a:t>
            </a:r>
          </a:p>
          <a:p xmlns:a="http://schemas.openxmlformats.org/drawingml/2006/main">
            <a:r>
              <a:t/>
            </a:r>
          </a:p>
          <a:p xmlns:a="http://schemas.openxmlformats.org/drawingml/2006/main">
            <a:r>
              <a:t>Sources</a:t>
            </a:r>
          </a:p>
          <a:p xmlns:a="http://schemas.openxmlformats.org/drawingml/2006/main">
            <a:r>
              <a:t>https://arxiv.org/abs/2503.13657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These are two scripted teaching examples, not results of training. On the left the task is to reach the goal. A wall removes moves, but leaves an alternative route. Whether that route is acceptable depends on the task and permissions. A penalty or a monitor would be different from an impassable wall. On the right, two agents cannot message each other, but they can see a shared marker. If the first agent places it at the top or bottom, the second can interpret a bit of information. Closing chat has not removed every possible information channel. This shows possibility, not proof that agents will discover it.</a:t>
            </a:r>
          </a:p>
          <a:p xmlns:a="http://schemas.openxmlformats.org/drawingml/2006/main">
            <a:r>
              <a:t/>
            </a:r>
          </a:p>
          <a:p xmlns:a="http://schemas.openxmlformats.org/drawingml/2006/main">
            <a:r>
              <a:t>Sources</a:t>
            </a:r>
          </a:p>
          <a:p xmlns:a="http://schemas.openxmlformats.org/drawingml/2006/main">
            <a:r>
              <a:t>https://arxiv.org/abs/1605.06676</a:t>
            </a:r>
          </a:p>
          <a:p xmlns:a="http://schemas.openxmlformats.org/drawingml/2006/main">
            <a:r>
              <a:t>Original scripted grid illustration. No learned policy, spontaneous discovery or shortest-path guarantee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DAN is an entertaining historical entry point. Some prompts bypassed refusal behavior, but they did not remove the model's training. A claimed benign purpose, such as being locked out of one's own home, introduces a different question: can the system establish that the claimed permission is genuine? Multi-turn research such as Crescendo demonstrates gradual steering by an external actor. Autonomous reward hacking is a separate mechanism. The common question is about the whole sequence: can individually plausible actions lead to an outcome that would have been rejected if requested directly? The next case concerns actual infrastructure.</a:t>
            </a:r>
          </a:p>
          <a:p xmlns:a="http://schemas.openxmlformats.org/drawingml/2006/main">
            <a:r>
              <a:t/>
            </a:r>
          </a:p>
          <a:p xmlns:a="http://schemas.openxmlformats.org/drawingml/2006/main">
            <a:r>
              <a:t>Sources</a:t>
            </a:r>
          </a:p>
          <a:p xmlns:a="http://schemas.openxmlformats.org/drawingml/2006/main">
            <a:r>
              <a:t>https://arxiv.org/abs/2308.03825</a:t>
            </a:r>
          </a:p>
          <a:p xmlns:a="http://schemas.openxmlformats.org/drawingml/2006/main">
            <a:r>
              <a:t>https://www.usenix.org/conference/usenixsecurity25/presentation/russinovich</a:t>
            </a:r>
          </a:p>
          <a:p xmlns:a="http://schemas.openxmlformats.org/drawingml/2006/main">
            <a:r>
              <a:t>https://arxiv.org/abs/2503.11926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OpenAI reports that in July 2026 internal models running under reduced safeguards used unauthorized communication, circumvented isolation and accessed third-party systems. That is a materially different situation from a chatbot giving an unwanted answer. A later independent reconstruction found code that labelled collected resources and credentials LOOT. The word is an identifier in the code, not evidence of emotions. We must also preserve the report's limitations: many artifacts show outgoing attempts, and not every attempt can be confirmed successful. These findings concern a specific evaluation setting, not a measured failure rate for ordinary deployed assistants.</a:t>
            </a:r>
          </a:p>
          <a:p xmlns:a="http://schemas.openxmlformats.org/drawingml/2006/main">
            <a:r>
              <a:t/>
            </a:r>
          </a:p>
          <a:p xmlns:a="http://schemas.openxmlformats.org/drawingml/2006/main">
            <a:r>
              <a:t>Sources</a:t>
            </a:r>
          </a:p>
          <a:p xmlns:a="http://schemas.openxmlformats.org/drawingml/2006/main">
            <a:r>
              <a:t>https://openai.com/index/hugging-face-incident-and-the-road-ahead/</a:t>
            </a:r>
          </a:p>
          <a:p xmlns:a="http://schemas.openxmlformats.org/drawingml/2006/main">
            <a:r>
              <a:t>https://metr.org/blog/2026-08-26-openai-hugging-face-incident-investigation/</a:t>
            </a:r>
          </a:p>
          <a:p xmlns:a="http://schemas.openxmlformats.org/drawingml/2006/main">
            <a:r>
              <a:t>https://swarmtraces.org/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Long tasks become more useful when the user can delegate work and return later. Faster agents and larger teams can perform more consequential actions during that interval. We should therefore measure activity between meaningful checks, not just the number of hours an agent runs. An hour has no universal conversion into months of earlier work. The benefit is sustained useful progress. The risk is that a mistaken shared state may influence many actions before anyone notices. Reducing interruptions need not mean removing automated verification. Permissions, recovery points and detection delay determine how far a failure can spread.</a:t>
            </a:r>
          </a:p>
          <a:p xmlns:a="http://schemas.openxmlformats.org/drawingml/2006/main">
            <a:r>
              <a:t/>
            </a:r>
          </a:p>
          <a:p xmlns:a="http://schemas.openxmlformats.org/drawingml/2006/main">
            <a:r>
              <a:t>Sources</a:t>
            </a:r>
          </a:p>
          <a:p xmlns:a="http://schemas.openxmlformats.org/drawingml/2006/main">
            <a:r>
              <a:t>Conceptual workload model, not an empirical damage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The next questions concern persistent operation, horizontal scale and automated improvement. Which tasks benefit from a large fleet? Which checks must happen before external actions? If agents improve tools or training components, how do we establish that the improvement is real and preserves constraints? AlphaEvolve provides an example of AI improving algorithms and training components, but sustained recursive self-improvement remains a broader question. My thesis addresses a narrower part of this landscape: inference and adaptation among agents with hidden information. Across these settings, we need to evaluate capability, reliability and control together.</a:t>
            </a:r>
          </a:p>
          <a:p xmlns:a="http://schemas.openxmlformats.org/drawingml/2006/main">
            <a:r>
              <a:t/>
            </a:r>
          </a:p>
          <a:p xmlns:a="http://schemas.openxmlformats.org/drawingml/2006/main">
            <a:r>
              <a:t>Sources</a:t>
            </a:r>
          </a:p>
          <a:p xmlns:a="http://schemas.openxmlformats.org/drawingml/2006/main">
            <a:r>
              <a:t>https://arxiv.org/abs/2506.13131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355a7bc4764f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6761c082384d41" /><Relationship Type="http://schemas.openxmlformats.org/officeDocument/2006/relationships/slideLayout" Target="/ppt/slideLayouts/slideLayout1.xml" Id="R514b4fa0784f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4b4fa0784f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9abc383b7743ad" /><Relationship Type="http://schemas.openxmlformats.org/officeDocument/2006/relationships/notesSlide" Target="/ppt/notesSlides/notesSlide1.xml" Id="R42b214ebf14c4a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302dfd4994264" /><Relationship Type="http://schemas.openxmlformats.org/officeDocument/2006/relationships/notesSlide" Target="/ppt/notesSlides/notesSlide2.xml" Id="R852324ca2438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f3746e3de34102" /><Relationship Type="http://schemas.openxmlformats.org/officeDocument/2006/relationships/chart" Target="/ppt/slides/charts/chart1.xml" Id="R27a50569a856438a" /><Relationship Type="http://schemas.openxmlformats.org/officeDocument/2006/relationships/notesSlide" Target="/ppt/notesSlides/notesSlide3.xml" Id="Rdd03a8b702a849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46b9be6a9f4f7a" /><Relationship Type="http://schemas.openxmlformats.org/officeDocument/2006/relationships/notesSlide" Target="/ppt/notesSlides/notesSlide4.xml" Id="Rddbf45f96b3040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c01016fcb244b2" /><Relationship Type="http://schemas.openxmlformats.org/officeDocument/2006/relationships/notesSlide" Target="/ppt/notesSlides/notesSlide5.xml" Id="R5b2a781921774e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b90154af364a83" /><Relationship Type="http://schemas.openxmlformats.org/officeDocument/2006/relationships/notesSlide" Target="/ppt/notesSlides/notesSlide6.xml" Id="Rc8dda8d2d7304f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48afe689ce49b5" /><Relationship Type="http://schemas.openxmlformats.org/officeDocument/2006/relationships/notesSlide" Target="/ppt/notesSlides/notesSlide7.xml" Id="Re9657141984949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2d9ace4d1b40cd" /><Relationship Type="http://schemas.openxmlformats.org/officeDocument/2006/relationships/chart" Target="/ppt/slides/charts/chart2.xml" Id="R9803ecd160a64cab" /><Relationship Type="http://schemas.openxmlformats.org/officeDocument/2006/relationships/notesSlide" Target="/ppt/notesSlides/notesSlide8.xml" Id="R259ccfcb5fe644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5f64801f4f4015" /><Relationship Type="http://schemas.openxmlformats.org/officeDocument/2006/relationships/notesSlide" Target="/ppt/notesSlides/notesSlide9.xml" Id="R1b0a76530a3e4e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ec0bd359f64e77" /><Relationship Type="http://schemas.openxmlformats.org/officeDocument/2006/relationships/notesSlide" Target="/ppt/notesSlides/notesSlide10.xml" Id="Rea093423840a4a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1d5e5b193d4040" /><Relationship Type="http://schemas.openxmlformats.org/officeDocument/2006/relationships/notesSlide" Target="/ppt/notesSlides/notesSlide11.xml" Id="Rfcff76bb4aca48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a7e45aa0b64f65" /><Relationship Type="http://schemas.openxmlformats.org/officeDocument/2006/relationships/notesSlide" Target="/ppt/notesSlides/notesSlide12.xml" Id="R5fb7ded82a9c44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6cd01d98c44d76" /><Relationship Type="http://schemas.openxmlformats.org/officeDocument/2006/relationships/notesSlide" Target="/ppt/notesSlides/notesSlide13.xml" Id="R61a621b1d49a47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cf10cffd904f8c" /><Relationship Type="http://schemas.openxmlformats.org/officeDocument/2006/relationships/notesSlide" Target="/ppt/notesSlides/notesSlide14.xml" Id="Rae68e68019f94e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f26ef7efef4bf3" /><Relationship Type="http://schemas.openxmlformats.org/officeDocument/2006/relationships/notesSlide" Target="/ppt/notesSlides/notesSlide15.xml" Id="R5373131af9a54b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9c5a7b3aab4ddd" /><Relationship Type="http://schemas.openxmlformats.org/officeDocument/2006/relationships/notesSlide" Target="/ppt/notesSlides/notesSlide16.xml" Id="R29a89c6d6b0e4e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100 required steps</c:v>
          </c:tx>
          <c:spPr>
            <a:solidFill xmlns:a="http://schemas.openxmlformats.org/drawingml/2006/main">
              <a:srgbClr val="007C78"/>
            </a:solidFill>
          </c:spPr>
          <c:cat>
            <c:strRef>
              <c:f>'Chart Data'!$A$2:$A$4</c:f>
              <c:strCache>
                <c:ptCount val="3"/>
                <c:pt idx="0">
                  <c:v>99%</c:v>
                </c:pt>
                <c:pt idx="1">
                  <c:v>99.9%</c:v>
                </c:pt>
                <c:pt idx="2">
                  <c:v>99.99%</c:v>
                </c:pt>
              </c:strCache>
            </c:strRef>
          </c:cat>
          <c:val>
            <c:numRef>
              <c:f>'Chart Data'!$B$2:$B$4</c:f>
              <c:numCache>
                <c:formatCode>0"%"</c:formatCode>
                <c:ptCount val="3"/>
                <c:pt idx="0">
                  <c:v>36.6032</c:v>
                </c:pt>
                <c:pt idx="1">
                  <c:v>90.4792</c:v>
                </c:pt>
                <c:pt idx="2">
                  <c:v>99.0049</c:v>
                </c:pt>
              </c:numCache>
            </c:numRef>
          </c:val>
        </c:ser>
        <c:ser>
          <c:idx val="1"/>
          <c:order val="1"/>
          <c:tx>
            <c:v>1,000 required steps</c:v>
          </c:tx>
          <c:spPr>
            <a:solidFill xmlns:a="http://schemas.openxmlformats.org/drawingml/2006/main">
              <a:srgbClr val="B13E2E"/>
            </a:solidFill>
          </c:spPr>
          <c:cat>
            <c:strRef>
              <c:f>'Chart Data'!$C$2:$C$4</c:f>
              <c:strCache>
                <c:ptCount val="3"/>
                <c:pt idx="0">
                  <c:v>99%</c:v>
                </c:pt>
                <c:pt idx="1">
                  <c:v>99.9%</c:v>
                </c:pt>
                <c:pt idx="2">
                  <c:v>99.99%</c:v>
                </c:pt>
              </c:strCache>
            </c:strRef>
          </c:cat>
          <c:val>
            <c:numRef>
              <c:f>'Chart Data'!$D$2:$D$4</c:f>
              <c:numCache>
                <c:formatCode>0"%"</c:formatCode>
                <c:ptCount val="3"/>
                <c:pt idx="0">
                  <c:v>0.004317</c:v>
                </c:pt>
                <c:pt idx="1">
                  <c:v>36.7695</c:v>
                </c:pt>
                <c:pt idx="2">
                  <c:v>90.4833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Success per step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Problems with recorded entries</c:v>
          </c:tx>
          <c:spPr>
            <a:ln xmlns:a="http://schemas.openxmlformats.org/drawingml/2006/main" w="28575">
              <a:solidFill>
                <a:srgbClr val="52636D"/>
              </a:solidFill>
            </a:ln>
          </c:spPr>
          <c:marker>
            <c:symbol val="circle"/>
            <c:size val="6"/>
            <c:spPr>
              <a:solidFill xmlns:a="http://schemas.openxmlformats.org/drawingml/2006/main">
                <a:srgbClr val="52636D"/>
              </a:solidFill>
            </c:spPr>
          </c:marker>
          <c:cat>
            <c:strRef>
              <c:f>'Chart Data'!$A$2:$A$9</c:f>
              <c:strCache>
                <c:ptCount val="8"/>
                <c:pt idx="0">
                  <c:v>Nov 25</c:v>
                </c:pt>
                <c:pt idx="1">
                  <c:v>Dec</c:v>
                </c:pt>
                <c:pt idx="2">
                  <c:v>Jan 26</c:v>
                </c:pt>
                <c:pt idx="3">
                  <c:v>Feb</c:v>
                </c:pt>
                <c:pt idx="4">
                  <c:v>Mar</c:v>
                </c:pt>
                <c:pt idx="5">
                  <c:v>Apr</c:v>
                </c:pt>
                <c:pt idx="6">
                  <c:v>May</c:v>
                </c:pt>
                <c:pt idx="7">
                  <c:v>Jun</c:v>
                </c:pt>
              </c:strCache>
            </c:strRef>
          </c:cat>
          <c:val>
            <c:numRef>
              <c:f>'Chart Data'!$B$2:$B$9</c:f>
              <c:numCache>
                <c:formatCode>General</c:formatCode>
                <c:ptCount val="8"/>
                <c:pt idx="0">
                  <c:v>1</c:v>
                </c:pt>
                <c:pt idx="1">
                  <c:v>1</c:v>
                </c:pt>
                <c:pt idx="2">
                  <c:v>16</c:v>
                </c:pt>
                <c:pt idx="3">
                  <c:v>22</c:v>
                </c:pt>
                <c:pt idx="4">
                  <c:v>25</c:v>
                </c:pt>
                <c:pt idx="5">
                  <c:v>42</c:v>
                </c:pt>
                <c:pt idx="6">
                  <c:v>46</c:v>
                </c:pt>
                <c:pt idx="7">
                  <c:v>57</c:v>
                </c:pt>
              </c:numCache>
            </c:numRef>
          </c:val>
          <c:smooth val="0"/>
        </c:ser>
        <c:ser>
          <c:idx val="1"/>
          <c:order val="1"/>
          <c:tx>
            <c:v>Marked full resolution</c:v>
          </c:tx>
          <c:spPr>
            <a:ln xmlns:a="http://schemas.openxmlformats.org/drawingml/2006/main" w="38100">
              <a:solidFill>
                <a:srgbClr val="007C78"/>
              </a:solidFill>
            </a:ln>
          </c:spPr>
          <c:marker>
            <c:symbol val="circle"/>
            <c:size val="6"/>
            <c:spPr>
              <a:solidFill xmlns:a="http://schemas.openxmlformats.org/drawingml/2006/main">
                <a:srgbClr val="007C78"/>
              </a:solidFill>
            </c:spPr>
          </c:marker>
          <c:cat>
            <c:strRef>
              <c:f>'Chart Data'!$C$2:$C$9</c:f>
              <c:strCache>
                <c:ptCount val="8"/>
                <c:pt idx="0">
                  <c:v>Nov 25</c:v>
                </c:pt>
                <c:pt idx="1">
                  <c:v>Dec</c:v>
                </c:pt>
                <c:pt idx="2">
                  <c:v>Jan 26</c:v>
                </c:pt>
                <c:pt idx="3">
                  <c:v>Feb</c:v>
                </c:pt>
                <c:pt idx="4">
                  <c:v>Mar</c:v>
                </c:pt>
                <c:pt idx="5">
                  <c:v>Apr</c:v>
                </c:pt>
                <c:pt idx="6">
                  <c:v>May</c:v>
                </c:pt>
                <c:pt idx="7">
                  <c:v>Jun</c:v>
                </c:pt>
              </c:strCache>
            </c:strRef>
          </c:cat>
          <c:val>
            <c:numRef>
              <c:f>'Chart Data'!$D$2:$D$9</c:f>
              <c:numCache>
                <c:formatCode>General</c:formatCode>
                <c:ptCount val="8"/>
                <c:pt idx="0">
                  <c:v>0</c:v>
                </c:pt>
                <c:pt idx="1">
                  <c:v>0</c:v>
                </c:pt>
                <c:pt idx="2">
                  <c:v>2</c:v>
                </c:pt>
                <c:pt idx="3">
                  <c:v>2</c:v>
                </c:pt>
                <c:pt idx="4">
                  <c:v>4</c:v>
                </c:pt>
                <c:pt idx="5">
                  <c:v>15</c:v>
                </c:pt>
                <c:pt idx="6">
                  <c:v>17</c:v>
                </c:pt>
                <c:pt idx="7">
                  <c:v>18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5016B3-ACA9-48BF-A1EB-C1B538ACC56C}"/>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C0CDD2"/>
                </a:solidFill>
                <a:latin typeface="Arial"/>
                <a:ea typeface="Arial"/>
                <a:cs typeface="Arial"/>
              </a:defRPr>
            </a:pPr>
            <a:r>
              <a:rPr sz="1350" b="0">
                <a:solidFill>
                  <a:srgbClr val="C0CDD2"/>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7502C7E4-814B-471D-B9B7-6CF3A65A8598}"/>
              </a:ext>
            </a:extLst>
          </p:cNvPr>
          <p:cNvSpPr>
            <a:spLocks xmlns:a="http://schemas.openxmlformats.org/drawingml/2006/main" noGrp="1"/>
          </p:cNvSpPr>
          <p:nvPr/>
        </p:nvSpPr>
        <p:spPr>
          <a:xfrm xmlns:a="http://schemas.openxmlformats.org/drawingml/2006/main">
            <a:off x="609600" y="1066800"/>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Multi-Agent AI for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Complex Problem Solving</a:t>
            </a:r>
          </a:p>
        </p:txBody>
      </p:sp>
      <p:sp>
        <p:nvSpPr>
          <p:cNvPr id="3" name="">
            <a:extLst xmlns:a="http://schemas.openxmlformats.org/drawingml/2006/main">
              <a:ext uri="{FF2B5EF4-FFF2-40B4-BE49-F238E27FC236}">
                <a16:creationId xmlns:a16="http://schemas.microsoft.com/office/drawing/2014/main" id="{1602A43F-B461-4496-BA87-016A3A81D4CA}"/>
              </a:ext>
            </a:extLst>
          </p:cNvPr>
          <p:cNvSpPr>
            <a:spLocks xmlns:a="http://schemas.openxmlformats.org/drawingml/2006/main" noGrp="1"/>
          </p:cNvSpPr>
          <p:nvPr/>
        </p:nvSpPr>
        <p:spPr>
          <a:xfrm xmlns:a="http://schemas.openxmlformats.org/drawingml/2006/main">
            <a:off x="609600" y="34004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0">
                <a:solidFill>
                  <a:srgbClr val="6FD0BE"/>
                </a:solidFill>
                <a:latin typeface="Arial"/>
                <a:ea typeface="Arial"/>
                <a:cs typeface="Arial"/>
              </a:defRPr>
            </a:pPr>
            <a:r>
              <a:rPr sz="3300" b="0">
                <a:solidFill>
                  <a:srgbClr val="6FD0BE"/>
                </a:solidFill>
                <a:latin typeface="Arial"/>
                <a:ea typeface="Arial"/>
                <a:cs typeface="Arial"/>
              </a:rPr>
              <a:t>Opportunities and Risks</a:t>
            </a:r>
          </a:p>
        </p:txBody>
      </p:sp>
      <p:sp>
        <p:nvSpPr>
          <p:cNvPr id="4" name="">
            <a:extLst xmlns:a="http://schemas.openxmlformats.org/drawingml/2006/main">
              <a:ext uri="{FF2B5EF4-FFF2-40B4-BE49-F238E27FC236}">
                <a16:creationId xmlns:a16="http://schemas.microsoft.com/office/drawing/2014/main" id="{F8C7539A-C01E-48AE-AAA0-1B523B55EC65}"/>
              </a:ext>
            </a:extLst>
          </p:cNvPr>
          <p:cNvSpPr>
            <a:spLocks xmlns:a="http://schemas.openxmlformats.org/drawingml/2006/main" noGrp="1"/>
          </p:cNvSpPr>
          <p:nvPr/>
        </p:nvSpPr>
        <p:spPr>
          <a:xfrm xmlns:a="http://schemas.openxmlformats.org/drawingml/2006/main">
            <a:off x="609600" y="5153025"/>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Alexander Andreev</a:t>
            </a:r>
          </a:p>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University of Ruse “Angel Kanchev”</a:t>
            </a:r>
          </a:p>
        </p:txBody>
      </p:sp>
    </p:spTree>
    <p:extLst>
      <p:ext uri="{BB962C8B-B14F-4D97-AF65-F5344CB8AC3E}">
        <p14:creationId xmlns:p14="http://schemas.microsoft.com/office/powerpoint/2010/main" val="172218929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F26A7-FC78-481F-8337-5453CAA4F6D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Model training and agent operation</a:t>
            </a:r>
          </a:p>
        </p:txBody>
      </p:sp>
      <p:sp>
        <p:nvSpPr>
          <p:cNvPr id="2" name="">
            <a:extLst xmlns:a="http://schemas.openxmlformats.org/drawingml/2006/main">
              <a:ext uri="{FF2B5EF4-FFF2-40B4-BE49-F238E27FC236}">
                <a16:creationId xmlns:a16="http://schemas.microsoft.com/office/drawing/2014/main" id="{A5A38AD7-CA5F-41B9-A499-E99D48E727E4}"/>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9C51002-CA5B-4848-890B-9A7EE0DF1C0F}"/>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Training</a:t>
            </a:r>
          </a:p>
        </p:txBody>
      </p:sp>
      <p:sp>
        <p:nvSpPr>
          <p:cNvPr id="4" name="">
            <a:extLst xmlns:a="http://schemas.openxmlformats.org/drawingml/2006/main">
              <a:ext uri="{FF2B5EF4-FFF2-40B4-BE49-F238E27FC236}">
                <a16:creationId xmlns:a16="http://schemas.microsoft.com/office/drawing/2014/main" id="{03BC312A-E3EA-46C1-9087-25588A7A0D70}"/>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Supervised examples demonstrate behavior.</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RL scores attempts and changes the model.</a:t>
            </a:r>
          </a:p>
        </p:txBody>
      </p:sp>
      <p:sp>
        <p:nvSpPr>
          <p:cNvPr id="5" name="">
            <a:extLst xmlns:a="http://schemas.openxmlformats.org/drawingml/2006/main">
              <a:ext uri="{FF2B5EF4-FFF2-40B4-BE49-F238E27FC236}">
                <a16:creationId xmlns:a16="http://schemas.microsoft.com/office/drawing/2014/main" id="{05108AA8-D02C-474B-AA07-5C71A8C0E07A}"/>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Operation</a:t>
            </a:r>
          </a:p>
        </p:txBody>
      </p:sp>
      <p:sp>
        <p:nvSpPr>
          <p:cNvPr id="6" name="">
            <a:extLst xmlns:a="http://schemas.openxmlformats.org/drawingml/2006/main">
              <a:ext uri="{FF2B5EF4-FFF2-40B4-BE49-F238E27FC236}">
                <a16:creationId xmlns:a16="http://schemas.microsoft.com/office/drawing/2014/main" id="{DBD18021-0D1E-40B3-A97D-FFCE2F163C45}"/>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The agent acts, observes and revises.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Tools and memory extend its reach.</a:t>
            </a:r>
          </a:p>
        </p:txBody>
      </p:sp>
      <p:sp>
        <p:nvSpPr>
          <p:cNvPr id="7" name="">
            <a:extLst xmlns:a="http://schemas.openxmlformats.org/drawingml/2006/main">
              <a:ext uri="{FF2B5EF4-FFF2-40B4-BE49-F238E27FC236}">
                <a16:creationId xmlns:a16="http://schemas.microsoft.com/office/drawing/2014/main" id="{9E1B203D-3EDE-4F59-96B1-768E698DF68F}"/>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Changing a plan during a task usually changes context, not model parameters.</a:t>
            </a:r>
          </a:p>
        </p:txBody>
      </p:sp>
    </p:spTree>
    <p:extLst>
      <p:ext uri="{BB962C8B-B14F-4D97-AF65-F5344CB8AC3E}">
        <p14:creationId xmlns:p14="http://schemas.microsoft.com/office/powerpoint/2010/main" val="194364941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BFEF83-DBEC-40C0-9639-EA388DC597D6}"/>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reliability problem</a:t>
            </a:r>
          </a:p>
        </p:txBody>
      </p:sp>
      <p:sp>
        <p:nvSpPr>
          <p:cNvPr id="2" name="">
            <a:extLst xmlns:a="http://schemas.openxmlformats.org/drawingml/2006/main">
              <a:ext uri="{FF2B5EF4-FFF2-40B4-BE49-F238E27FC236}">
                <a16:creationId xmlns:a16="http://schemas.microsoft.com/office/drawing/2014/main" id="{327D3F58-5F2A-4042-A364-B57728C55579}"/>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03</a:t>
            </a:r>
          </a:p>
        </p:txBody>
      </p:sp>
      <p:graphicFrame>
        <p:nvGraphicFramePr>
          <p:cNvPr id="9" name="Chart"/>
          <p:cNvGraphicFramePr/>
          <p:nvPr/>
        </p:nvGraphicFramePr>
        <p:xfrm>
          <a:off xmlns:a="http://schemas.openxmlformats.org/drawingml/2006/main" x="619125" y="1666875"/>
          <a:ext xmlns:a="http://schemas.openxmlformats.org/drawingml/2006/main" cx="7334250" cy="3638550"/>
        </p:xfrm>
        <a:graphic xmlns:a="http://schemas.openxmlformats.org/drawingml/2006/main">
          <a:graphicData uri="http://schemas.openxmlformats.org/drawingml/2006/chart">
            <c:chart xmlns:r="http://schemas.openxmlformats.org/officeDocument/2006/relationships" xmlns:c="http://schemas.openxmlformats.org/drawingml/2006/chart" r:id="R27a50569a856438a"/>
          </a:graphicData>
        </a:graphic>
      </p:graphicFrame>
      <p:sp>
        <p:nvSpPr>
          <p:cNvPr id="4" name="">
            <a:extLst xmlns:a="http://schemas.openxmlformats.org/drawingml/2006/main">
              <a:ext uri="{FF2B5EF4-FFF2-40B4-BE49-F238E27FC236}">
                <a16:creationId xmlns:a16="http://schemas.microsoft.com/office/drawing/2014/main" id="{C3206D2B-C7A1-462C-AFE5-BF848F1870E7}"/>
              </a:ext>
            </a:extLst>
          </p:cNvPr>
          <p:cNvSpPr>
            <a:spLocks xmlns:a="http://schemas.openxmlformats.org/drawingml/2006/main" noGrp="1"/>
          </p:cNvSpPr>
          <p:nvPr/>
        </p:nvSpPr>
        <p:spPr>
          <a:xfrm xmlns:a="http://schemas.openxmlformats.org/drawingml/2006/main">
            <a:off x="8572500" y="2219325"/>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B13E2E"/>
                </a:solidFill>
                <a:latin typeface="Arial"/>
                <a:ea typeface="Arial"/>
                <a:cs typeface="Arial"/>
              </a:defRPr>
            </a:pPr>
            <a:r>
              <a:rPr sz="6150" b="1">
                <a:solidFill>
                  <a:srgbClr val="B13E2E"/>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B1B9DED3-28D8-4F11-9DFC-A57C30797487}"/>
              </a:ext>
            </a:extLst>
          </p:cNvPr>
          <p:cNvSpPr>
            <a:spLocks xmlns:a="http://schemas.openxmlformats.org/drawingml/2006/main" noGrp="1"/>
          </p:cNvSpPr>
          <p:nvPr/>
        </p:nvSpPr>
        <p:spPr>
          <a:xfrm xmlns:a="http://schemas.openxmlformats.org/drawingml/2006/main">
            <a:off x="8572500" y="3333750"/>
            <a:ext cx="28384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complete success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across 1,000 steps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at 99.9% per step</a:t>
            </a:r>
          </a:p>
        </p:txBody>
      </p:sp>
      <p:sp>
        <p:nvSpPr>
          <p:cNvPr id="6" name="">
            <a:extLst xmlns:a="http://schemas.openxmlformats.org/drawingml/2006/main">
              <a:ext uri="{FF2B5EF4-FFF2-40B4-BE49-F238E27FC236}">
                <a16:creationId xmlns:a16="http://schemas.microsoft.com/office/drawing/2014/main" id="{9C791865-6C1C-4E28-96BC-EBC7DF8B544B}"/>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Illustration: independent steps, identical probabilities, no recovery. Probability = pⁿ.</a:t>
            </a:r>
          </a:p>
        </p:txBody>
      </p:sp>
    </p:spTree>
    <p:extLst>
      <p:ext uri="{BB962C8B-B14F-4D97-AF65-F5344CB8AC3E}">
        <p14:creationId xmlns:p14="http://schemas.microsoft.com/office/powerpoint/2010/main" val="133280222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717BC3-E667-4DCA-A0D7-2424741DC29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Tools, verification and backtracking</a:t>
            </a:r>
          </a:p>
        </p:txBody>
      </p:sp>
      <p:sp>
        <p:nvSpPr>
          <p:cNvPr id="2" name="">
            <a:extLst xmlns:a="http://schemas.openxmlformats.org/drawingml/2006/main">
              <a:ext uri="{FF2B5EF4-FFF2-40B4-BE49-F238E27FC236}">
                <a16:creationId xmlns:a16="http://schemas.microsoft.com/office/drawing/2014/main" id="{964A82AA-ED57-4468-81CA-6ED2EE5FFB02}"/>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3863B31-0B0E-4004-B3B4-A0741E960826}"/>
              </a:ext>
            </a:extLst>
          </p:cNvPr>
          <p:cNvSpPr>
            <a:spLocks xmlns:a="http://schemas.openxmlformats.org/drawingml/2006/main" noGrp="1"/>
          </p:cNvSpPr>
          <p:nvPr/>
        </p:nvSpPr>
        <p:spPr>
          <a:xfrm xmlns:a="http://schemas.openxmlformats.org/drawingml/2006/main">
            <a:off x="609600" y="17811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Propose a solution</a:t>
            </a:r>
          </a:p>
        </p:txBody>
      </p:sp>
      <p:sp>
        <p:nvSpPr>
          <p:cNvPr id="4" name="">
            <a:extLst xmlns:a="http://schemas.openxmlformats.org/drawingml/2006/main">
              <a:ext uri="{FF2B5EF4-FFF2-40B4-BE49-F238E27FC236}">
                <a16:creationId xmlns:a16="http://schemas.microsoft.com/office/drawing/2014/main" id="{58B2F270-E2F2-4CC2-BEAE-EB518EF48D47}"/>
              </a:ext>
            </a:extLst>
          </p:cNvPr>
          <p:cNvSpPr>
            <a:spLocks xmlns:a="http://schemas.openxmlformats.org/drawingml/2006/main" noGrp="1"/>
          </p:cNvSpPr>
          <p:nvPr/>
        </p:nvSpPr>
        <p:spPr>
          <a:xfrm xmlns:a="http://schemas.openxmlformats.org/drawingml/2006/main">
            <a:off x="609600" y="273367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007C78"/>
                </a:solidFill>
                <a:latin typeface="Arial"/>
                <a:ea typeface="Arial"/>
                <a:cs typeface="Arial"/>
              </a:defRPr>
            </a:pPr>
            <a:r>
              <a:rPr sz="2550" b="1">
                <a:solidFill>
                  <a:srgbClr val="007C78"/>
                </a:solidFill>
                <a:latin typeface="Arial"/>
                <a:ea typeface="Arial"/>
                <a:cs typeface="Arial"/>
              </a:rPr>
              <a:t>Check a necessary claim using code or evidence</a:t>
            </a:r>
          </a:p>
        </p:txBody>
      </p:sp>
      <p:sp>
        <p:nvSpPr>
          <p:cNvPr id="5" name="">
            <a:extLst xmlns:a="http://schemas.openxmlformats.org/drawingml/2006/main">
              <a:ext uri="{FF2B5EF4-FFF2-40B4-BE49-F238E27FC236}">
                <a16:creationId xmlns:a16="http://schemas.microsoft.com/office/drawing/2014/main" id="{9EBEB974-D5CE-4414-8A53-AE6F0FBFCA1E}"/>
              </a:ext>
            </a:extLst>
          </p:cNvPr>
          <p:cNvSpPr>
            <a:spLocks xmlns:a="http://schemas.openxmlformats.org/drawingml/2006/main" noGrp="1"/>
          </p:cNvSpPr>
          <p:nvPr/>
        </p:nvSpPr>
        <p:spPr>
          <a:xfrm xmlns:a="http://schemas.openxmlformats.org/drawingml/2006/main">
            <a:off x="609600" y="37814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Revise when the check fails</a:t>
            </a:r>
          </a:p>
        </p:txBody>
      </p:sp>
      <p:sp>
        <p:nvSpPr>
          <p:cNvPr id="6" name="">
            <a:extLst xmlns:a="http://schemas.openxmlformats.org/drawingml/2006/main">
              <a:ext uri="{FF2B5EF4-FFF2-40B4-BE49-F238E27FC236}">
                <a16:creationId xmlns:a16="http://schemas.microsoft.com/office/drawing/2014/main" id="{AEF14694-8140-46CE-B13C-DB1D5C122D29}"/>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reliable tool can still receive the wrong question. External actions may be irreversible.</a:t>
            </a:r>
          </a:p>
        </p:txBody>
      </p:sp>
    </p:spTree>
    <p:extLst>
      <p:ext uri="{BB962C8B-B14F-4D97-AF65-F5344CB8AC3E}">
        <p14:creationId xmlns:p14="http://schemas.microsoft.com/office/powerpoint/2010/main" val="103097472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F7B164-8D37-4F6A-A0A8-CDE9D1AD6B0F}"/>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Horizontal scaling</a:t>
            </a:r>
          </a:p>
        </p:txBody>
      </p:sp>
      <p:sp>
        <p:nvSpPr>
          <p:cNvPr id="2" name="">
            <a:extLst xmlns:a="http://schemas.openxmlformats.org/drawingml/2006/main">
              <a:ext uri="{FF2B5EF4-FFF2-40B4-BE49-F238E27FC236}">
                <a16:creationId xmlns:a16="http://schemas.microsoft.com/office/drawing/2014/main" id="{0638083B-3F97-4DCB-BFAF-63BCAD9F32F0}"/>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B88DA9D-63B7-4B76-9199-00D45E728A38}"/>
              </a:ext>
            </a:extLst>
          </p:cNvPr>
          <p:cNvSpPr>
            <a:spLocks xmlns:a="http://schemas.openxmlformats.org/drawingml/2006/main" noGrp="1"/>
          </p:cNvSpPr>
          <p:nvPr/>
        </p:nvSpPr>
        <p:spPr>
          <a:xfrm xmlns:a="http://schemas.openxmlformats.org/drawingml/2006/main">
            <a:off x="609600" y="17145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Multiple attempts</a:t>
            </a:r>
          </a:p>
        </p:txBody>
      </p:sp>
      <p:sp>
        <p:nvSpPr>
          <p:cNvPr id="4" name="">
            <a:extLst xmlns:a="http://schemas.openxmlformats.org/drawingml/2006/main">
              <a:ext uri="{FF2B5EF4-FFF2-40B4-BE49-F238E27FC236}">
                <a16:creationId xmlns:a16="http://schemas.microsoft.com/office/drawing/2014/main" id="{02EE8D0F-D262-404C-8B00-5E024EF43AA3}"/>
              </a:ext>
            </a:extLst>
          </p:cNvPr>
          <p:cNvSpPr>
            <a:spLocks xmlns:a="http://schemas.openxmlformats.org/drawingml/2006/main" noGrp="1"/>
          </p:cNvSpPr>
          <p:nvPr/>
        </p:nvSpPr>
        <p:spPr>
          <a:xfrm xmlns:a="http://schemas.openxmlformats.org/drawingml/2006/main">
            <a:off x="4857750" y="171450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Explore alternatives and compare answers</a:t>
            </a:r>
          </a:p>
        </p:txBody>
      </p:sp>
      <p:sp>
        <p:nvSpPr>
          <p:cNvPr id="5" name="">
            <a:extLst xmlns:a="http://schemas.openxmlformats.org/drawingml/2006/main">
              <a:ext uri="{FF2B5EF4-FFF2-40B4-BE49-F238E27FC236}">
                <a16:creationId xmlns:a16="http://schemas.microsoft.com/office/drawing/2014/main" id="{7BA3ED6B-AA5C-4302-A304-0091CC51F1C7}"/>
              </a:ext>
            </a:extLst>
          </p:cNvPr>
          <p:cNvSpPr>
            <a:spLocks xmlns:a="http://schemas.openxmlformats.org/drawingml/2006/main" noGrp="1"/>
          </p:cNvSpPr>
          <p:nvPr/>
        </p:nvSpPr>
        <p:spPr>
          <a:xfrm xmlns:a="http://schemas.openxmlformats.org/drawingml/2006/main">
            <a:off x="609600" y="26003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Division of labour</a:t>
            </a:r>
          </a:p>
        </p:txBody>
      </p:sp>
      <p:sp>
        <p:nvSpPr>
          <p:cNvPr id="6" name="">
            <a:extLst xmlns:a="http://schemas.openxmlformats.org/drawingml/2006/main">
              <a:ext uri="{FF2B5EF4-FFF2-40B4-BE49-F238E27FC236}">
                <a16:creationId xmlns:a16="http://schemas.microsoft.com/office/drawing/2014/main" id="{E329B290-D241-42E9-BF2F-4C43BB930596}"/>
              </a:ext>
            </a:extLst>
          </p:cNvPr>
          <p:cNvSpPr>
            <a:spLocks xmlns:a="http://schemas.openxmlformats.org/drawingml/2006/main" noGrp="1"/>
          </p:cNvSpPr>
          <p:nvPr/>
        </p:nvSpPr>
        <p:spPr>
          <a:xfrm xmlns:a="http://schemas.openxmlformats.org/drawingml/2006/main">
            <a:off x="4857750" y="260032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Give agents distinct questions and contexts</a:t>
            </a:r>
          </a:p>
        </p:txBody>
      </p:sp>
      <p:sp>
        <p:nvSpPr>
          <p:cNvPr id="7" name="">
            <a:extLst xmlns:a="http://schemas.openxmlformats.org/drawingml/2006/main">
              <a:ext uri="{FF2B5EF4-FFF2-40B4-BE49-F238E27FC236}">
                <a16:creationId xmlns:a16="http://schemas.microsoft.com/office/drawing/2014/main" id="{ED1564FF-73E3-42DA-A3A8-7620F57E8402}"/>
              </a:ext>
            </a:extLst>
          </p:cNvPr>
          <p:cNvSpPr>
            <a:spLocks xmlns:a="http://schemas.openxmlformats.org/drawingml/2006/main" noGrp="1"/>
          </p:cNvSpPr>
          <p:nvPr/>
        </p:nvSpPr>
        <p:spPr>
          <a:xfrm xmlns:a="http://schemas.openxmlformats.org/drawingml/2006/main">
            <a:off x="609600" y="34861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Coordination</a:t>
            </a:r>
          </a:p>
        </p:txBody>
      </p:sp>
      <p:sp>
        <p:nvSpPr>
          <p:cNvPr id="8" name="">
            <a:extLst xmlns:a="http://schemas.openxmlformats.org/drawingml/2006/main">
              <a:ext uri="{FF2B5EF4-FFF2-40B4-BE49-F238E27FC236}">
                <a16:creationId xmlns:a16="http://schemas.microsoft.com/office/drawing/2014/main" id="{B1B80635-BC76-4BB8-B808-061D2CB50438}"/>
              </a:ext>
            </a:extLst>
          </p:cNvPr>
          <p:cNvSpPr>
            <a:spLocks xmlns:a="http://schemas.openxmlformats.org/drawingml/2006/main" noGrp="1"/>
          </p:cNvSpPr>
          <p:nvPr/>
        </p:nvSpPr>
        <p:spPr>
          <a:xfrm xmlns:a="http://schemas.openxmlformats.org/drawingml/2006/main">
            <a:off x="4857750" y="3486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Share findings and revise the plan</a:t>
            </a:r>
          </a:p>
        </p:txBody>
      </p:sp>
      <p:sp>
        <p:nvSpPr>
          <p:cNvPr id="9" name="">
            <a:extLst xmlns:a="http://schemas.openxmlformats.org/drawingml/2006/main">
              <a:ext uri="{FF2B5EF4-FFF2-40B4-BE49-F238E27FC236}">
                <a16:creationId xmlns:a16="http://schemas.microsoft.com/office/drawing/2014/main" id="{7A428BE6-388A-4815-88F9-0572A413FB6E}"/>
              </a:ext>
            </a:extLst>
          </p:cNvPr>
          <p:cNvSpPr>
            <a:spLocks xmlns:a="http://schemas.openxmlformats.org/drawingml/2006/main" noGrp="1"/>
          </p:cNvSpPr>
          <p:nvPr/>
        </p:nvSpPr>
        <p:spPr>
          <a:xfrm xmlns:a="http://schemas.openxmlformats.org/drawingml/2006/main">
            <a:off x="609600" y="43719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Trained delegation</a:t>
            </a:r>
          </a:p>
        </p:txBody>
      </p:sp>
      <p:sp>
        <p:nvSpPr>
          <p:cNvPr id="10" name="">
            <a:extLst xmlns:a="http://schemas.openxmlformats.org/drawingml/2006/main">
              <a:ext uri="{FF2B5EF4-FFF2-40B4-BE49-F238E27FC236}">
                <a16:creationId xmlns:a16="http://schemas.microsoft.com/office/drawing/2014/main" id="{E89889A5-BF10-4625-A306-DFB87C7CEF3B}"/>
              </a:ext>
            </a:extLst>
          </p:cNvPr>
          <p:cNvSpPr>
            <a:spLocks xmlns:a="http://schemas.openxmlformats.org/drawingml/2006/main" noGrp="1"/>
          </p:cNvSpPr>
          <p:nvPr/>
        </p:nvSpPr>
        <p:spPr>
          <a:xfrm xmlns:a="http://schemas.openxmlformats.org/drawingml/2006/main">
            <a:off x="4857750" y="437197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Learn when and how to assign work</a:t>
            </a:r>
          </a:p>
        </p:txBody>
      </p:sp>
      <p:sp>
        <p:nvSpPr>
          <p:cNvPr id="11" name="">
            <a:extLst xmlns:a="http://schemas.openxmlformats.org/drawingml/2006/main">
              <a:ext uri="{FF2B5EF4-FFF2-40B4-BE49-F238E27FC236}">
                <a16:creationId xmlns:a16="http://schemas.microsoft.com/office/drawing/2014/main" id="{4699F742-733E-479F-B056-063C7721C4B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More agents can improve coverage while adding cost, dependencies and shared errors.</a:t>
            </a:r>
          </a:p>
        </p:txBody>
      </p:sp>
    </p:spTree>
    <p:extLst>
      <p:ext uri="{BB962C8B-B14F-4D97-AF65-F5344CB8AC3E}">
        <p14:creationId xmlns:p14="http://schemas.microsoft.com/office/powerpoint/2010/main" val="1588992344"/>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E1D439-BFF2-4029-B8F6-4268FEF3883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Competition and cooperation</a:t>
            </a:r>
          </a:p>
        </p:txBody>
      </p:sp>
      <p:sp>
        <p:nvSpPr>
          <p:cNvPr id="2" name="">
            <a:extLst xmlns:a="http://schemas.openxmlformats.org/drawingml/2006/main">
              <a:ext uri="{FF2B5EF4-FFF2-40B4-BE49-F238E27FC236}">
                <a16:creationId xmlns:a16="http://schemas.microsoft.com/office/drawing/2014/main" id="{03360C23-C46B-46FA-9C7A-674AA70481BC}"/>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D7A7C09-5F55-43FE-BD4D-7E2208AA0F37}"/>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Competition</a:t>
            </a:r>
          </a:p>
        </p:txBody>
      </p:sp>
      <p:sp>
        <p:nvSpPr>
          <p:cNvPr id="4" name="">
            <a:extLst xmlns:a="http://schemas.openxmlformats.org/drawingml/2006/main">
              <a:ext uri="{FF2B5EF4-FFF2-40B4-BE49-F238E27FC236}">
                <a16:creationId xmlns:a16="http://schemas.microsoft.com/office/drawing/2014/main" id="{E2503542-4AB2-42D7-8F27-072036B9D9F4}"/>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Other agents expose weaknesses.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Hide-and-seek produces new strategies.</a:t>
            </a:r>
          </a:p>
        </p:txBody>
      </p:sp>
      <p:sp>
        <p:nvSpPr>
          <p:cNvPr id="5" name="">
            <a:extLst xmlns:a="http://schemas.openxmlformats.org/drawingml/2006/main">
              <a:ext uri="{FF2B5EF4-FFF2-40B4-BE49-F238E27FC236}">
                <a16:creationId xmlns:a16="http://schemas.microsoft.com/office/drawing/2014/main" id="{68282D33-0B1D-45A2-93D7-AD280FDE5049}"/>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Cooperation</a:t>
            </a:r>
          </a:p>
        </p:txBody>
      </p:sp>
      <p:sp>
        <p:nvSpPr>
          <p:cNvPr id="6" name="">
            <a:extLst xmlns:a="http://schemas.openxmlformats.org/drawingml/2006/main">
              <a:ext uri="{FF2B5EF4-FFF2-40B4-BE49-F238E27FC236}">
                <a16:creationId xmlns:a16="http://schemas.microsoft.com/office/drawing/2014/main" id="{CBADF5D9-316D-4BD7-BC3F-941DB1FB2876}"/>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Agents distribute work and exchange information.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Some models learn to delegate.</a:t>
            </a:r>
          </a:p>
        </p:txBody>
      </p:sp>
      <p:sp>
        <p:nvSpPr>
          <p:cNvPr id="7" name="">
            <a:extLst xmlns:a="http://schemas.openxmlformats.org/drawingml/2006/main">
              <a:ext uri="{FF2B5EF4-FFF2-40B4-BE49-F238E27FC236}">
                <a16:creationId xmlns:a16="http://schemas.microsoft.com/office/drawing/2014/main" id="{07D212AE-5749-41CE-AA95-17CA0F253DB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team may cooperate internally and compete externally. Trained delegation alone does not prove joint MARL.</a:t>
            </a:r>
          </a:p>
        </p:txBody>
      </p:sp>
    </p:spTree>
    <p:extLst>
      <p:ext uri="{BB962C8B-B14F-4D97-AF65-F5344CB8AC3E}">
        <p14:creationId xmlns:p14="http://schemas.microsoft.com/office/powerpoint/2010/main" val="392859625"/>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EE6C21-E3C5-4250-B695-F60B1F0278AF}"/>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Scientific work combines search and checking</a:t>
            </a:r>
          </a:p>
        </p:txBody>
      </p:sp>
      <p:sp>
        <p:nvSpPr>
          <p:cNvPr id="2" name="">
            <a:extLst xmlns:a="http://schemas.openxmlformats.org/drawingml/2006/main">
              <a:ext uri="{FF2B5EF4-FFF2-40B4-BE49-F238E27FC236}">
                <a16:creationId xmlns:a16="http://schemas.microsoft.com/office/drawing/2014/main" id="{6F041A67-E840-43AB-8968-8731C7DA8B98}"/>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54888DE-C406-4345-B237-F32754F02E57}"/>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Erdős problem 728</a:t>
            </a:r>
          </a:p>
        </p:txBody>
      </p:sp>
      <p:sp>
        <p:nvSpPr>
          <p:cNvPr id="4" name="">
            <a:extLst xmlns:a="http://schemas.openxmlformats.org/drawingml/2006/main">
              <a:ext uri="{FF2B5EF4-FFF2-40B4-BE49-F238E27FC236}">
                <a16:creationId xmlns:a16="http://schemas.microsoft.com/office/drawing/2014/main" id="{293541CF-5885-4A56-9B13-7FE1FDBAC5F4}"/>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Complementary AI systems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formal Lean proof</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Human-operated workflow</a:t>
            </a:r>
          </a:p>
        </p:txBody>
      </p:sp>
      <p:sp>
        <p:nvSpPr>
          <p:cNvPr id="5" name="">
            <a:extLst xmlns:a="http://schemas.openxmlformats.org/drawingml/2006/main">
              <a:ext uri="{FF2B5EF4-FFF2-40B4-BE49-F238E27FC236}">
                <a16:creationId xmlns:a16="http://schemas.microsoft.com/office/drawing/2014/main" id="{A188DC0A-D3D1-4890-9D37-C2887FC9CD6F}"/>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Navier–Stokes report</a:t>
            </a:r>
          </a:p>
        </p:txBody>
      </p:sp>
      <p:sp>
        <p:nvSpPr>
          <p:cNvPr id="6" name="">
            <a:extLst xmlns:a="http://schemas.openxmlformats.org/drawingml/2006/main">
              <a:ext uri="{FF2B5EF4-FFF2-40B4-BE49-F238E27FC236}">
                <a16:creationId xmlns:a16="http://schemas.microsoft.com/office/drawing/2014/main" id="{D2361A68-250E-4D92-B3B5-737F1F5B6BF5}"/>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Parallel exploration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Exchange of intermediate findings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Formalization and checking</a:t>
            </a:r>
          </a:p>
        </p:txBody>
      </p:sp>
      <p:sp>
        <p:nvSpPr>
          <p:cNvPr id="7" name="">
            <a:extLst xmlns:a="http://schemas.openxmlformats.org/drawingml/2006/main">
              <a:ext uri="{FF2B5EF4-FFF2-40B4-BE49-F238E27FC236}">
                <a16:creationId xmlns:a16="http://schemas.microsoft.com/office/drawing/2014/main" id="{DC8AFFEE-5E0B-4462-BC0D-C4E2B4C23A9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Case studies: Sothanaphan (2026) and OpenAI (2026). Different workflows and evidence, not a controlled comparison.</a:t>
            </a:r>
          </a:p>
        </p:txBody>
      </p:sp>
    </p:spTree>
    <p:extLst>
      <p:ext uri="{BB962C8B-B14F-4D97-AF65-F5344CB8AC3E}">
        <p14:creationId xmlns:p14="http://schemas.microsoft.com/office/powerpoint/2010/main" val="105893911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6966D-F335-45C5-9DA1-7E0CDEE7E08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Recorded progress and review capacity</a:t>
            </a:r>
          </a:p>
        </p:txBody>
      </p:sp>
      <p:sp>
        <p:nvSpPr>
          <p:cNvPr id="2" name="">
            <a:extLst xmlns:a="http://schemas.openxmlformats.org/drawingml/2006/main">
              <a:ext uri="{FF2B5EF4-FFF2-40B4-BE49-F238E27FC236}">
                <a16:creationId xmlns:a16="http://schemas.microsoft.com/office/drawing/2014/main" id="{A9B915A5-509B-438C-852A-3A3AA8EF1A5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08</a:t>
            </a:r>
          </a:p>
        </p:txBody>
      </p:sp>
      <p:graphicFrame>
        <p:nvGraphicFramePr>
          <p:cNvPr id="9" name="Chart"/>
          <p:cNvGraphicFramePr/>
          <p:nvPr/>
        </p:nvGraphicFramePr>
        <p:xfrm>
          <a:off xmlns:a="http://schemas.openxmlformats.org/drawingml/2006/main" x="590550" y="1695450"/>
          <a:ext xmlns:a="http://schemas.openxmlformats.org/drawingml/2006/main" cx="7143750" cy="3533775"/>
        </p:xfrm>
        <a:graphic xmlns:a="http://schemas.openxmlformats.org/drawingml/2006/main">
          <a:graphicData uri="http://schemas.openxmlformats.org/drawingml/2006/chart">
            <c:chart xmlns:r="http://schemas.openxmlformats.org/officeDocument/2006/relationships" xmlns:c="http://schemas.openxmlformats.org/drawingml/2006/chart" r:id="R9803ecd160a64cab"/>
          </a:graphicData>
        </a:graphic>
      </p:graphicFrame>
      <p:sp>
        <p:nvSpPr>
          <p:cNvPr id="4" name="">
            <a:extLst xmlns:a="http://schemas.openxmlformats.org/drawingml/2006/main">
              <a:ext uri="{FF2B5EF4-FFF2-40B4-BE49-F238E27FC236}">
                <a16:creationId xmlns:a16="http://schemas.microsoft.com/office/drawing/2014/main" id="{0B79082C-003F-4FB5-9A4C-AE1D075776BA}"/>
              </a:ext>
            </a:extLst>
          </p:cNvPr>
          <p:cNvSpPr>
            <a:spLocks xmlns:a="http://schemas.openxmlformats.org/drawingml/2006/main" noGrp="1"/>
          </p:cNvSpPr>
          <p:nvPr/>
        </p:nvSpPr>
        <p:spPr>
          <a:xfrm xmlns:a="http://schemas.openxmlformats.org/drawingml/2006/main">
            <a:off x="8239125" y="181927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Open-source parallel</a:t>
            </a:r>
          </a:p>
        </p:txBody>
      </p:sp>
      <p:sp>
        <p:nvSpPr>
          <p:cNvPr id="5" name="">
            <a:extLst xmlns:a="http://schemas.openxmlformats.org/drawingml/2006/main">
              <a:ext uri="{FF2B5EF4-FFF2-40B4-BE49-F238E27FC236}">
                <a16:creationId xmlns:a16="http://schemas.microsoft.com/office/drawing/2014/main" id="{59077831-2117-43B1-93A0-13C62E02ECFF}"/>
              </a:ext>
            </a:extLst>
          </p:cNvPr>
          <p:cNvSpPr>
            <a:spLocks xmlns:a="http://schemas.openxmlformats.org/drawingml/2006/main" noGrp="1"/>
          </p:cNvSpPr>
          <p:nvPr/>
        </p:nvSpPr>
        <p:spPr>
          <a:xfrm xmlns:a="http://schemas.openxmlformats.org/drawingml/2006/main">
            <a:off x="8239125" y="2867025"/>
            <a:ext cx="33147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curl accepts checked</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AI-assisted code.</a:t>
            </a:r>
          </a:p>
          <a:p xmlns:a="http://schemas.openxmlformats.org/drawingml/2006/main">
            <a:r>
              <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Poor reports consume</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maintainer time.</a:t>
            </a:r>
          </a:p>
        </p:txBody>
      </p:sp>
      <p:sp>
        <p:nvSpPr>
          <p:cNvPr id="6" name="">
            <a:extLst xmlns:a="http://schemas.openxmlformats.org/drawingml/2006/main">
              <a:ext uri="{FF2B5EF4-FFF2-40B4-BE49-F238E27FC236}">
                <a16:creationId xmlns:a16="http://schemas.microsoft.com/office/drawing/2014/main" id="{C54AFF66-DF77-4339-8B08-FE5A496AF53D}"/>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Selected “AI standalone” category. June 30, 2026 snapshot. Contribution dates, retrospective status.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These are not all submissions, journal approvals or a measured exponential trend.</a:t>
            </a:r>
          </a:p>
        </p:txBody>
      </p:sp>
    </p:spTree>
    <p:extLst>
      <p:ext uri="{BB962C8B-B14F-4D97-AF65-F5344CB8AC3E}">
        <p14:creationId xmlns:p14="http://schemas.microsoft.com/office/powerpoint/2010/main" val="185010061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FB2BAE-B7ED-46D9-B3D3-59D1B0E1891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Appropriate use and unreliable context</a:t>
            </a:r>
          </a:p>
        </p:txBody>
      </p:sp>
      <p:sp>
        <p:nvSpPr>
          <p:cNvPr id="2" name="">
            <a:extLst xmlns:a="http://schemas.openxmlformats.org/drawingml/2006/main">
              <a:ext uri="{FF2B5EF4-FFF2-40B4-BE49-F238E27FC236}">
                <a16:creationId xmlns:a16="http://schemas.microsoft.com/office/drawing/2014/main" id="{52FF1340-BA53-48E7-A414-C38E9625E3C2}"/>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47C352C-46DB-4E6F-8626-A5B26673D01D}"/>
              </a:ext>
            </a:extLst>
          </p:cNvPr>
          <p:cNvSpPr>
            <a:spLocks xmlns:a="http://schemas.openxmlformats.org/drawingml/2006/main" noGrp="1"/>
          </p:cNvSpPr>
          <p:nvPr/>
        </p:nvSpPr>
        <p:spPr>
          <a:xfrm xmlns:a="http://schemas.openxmlformats.org/drawingml/2006/main">
            <a:off x="609600" y="174307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“Prepare the chicken.</a:t>
            </a:r>
          </a:p>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Keep the cook’s fingers safe.”</a:t>
            </a:r>
          </a:p>
        </p:txBody>
      </p:sp>
      <p:sp>
        <p:nvSpPr>
          <p:cNvPr id="4" name="">
            <a:extLst xmlns:a="http://schemas.openxmlformats.org/drawingml/2006/main">
              <a:ext uri="{FF2B5EF4-FFF2-40B4-BE49-F238E27FC236}">
                <a16:creationId xmlns:a16="http://schemas.microsoft.com/office/drawing/2014/main" id="{E3521DDA-D878-44D8-873D-F5BC723924B5}"/>
              </a:ext>
            </a:extLst>
          </p:cNvPr>
          <p:cNvSpPr>
            <a:spLocks xmlns:a="http://schemas.openxmlformats.org/drawingml/2006/main" noGrp="1"/>
          </p:cNvSpPr>
          <p:nvPr/>
        </p:nvSpPr>
        <p:spPr>
          <a:xfrm xmlns:a="http://schemas.openxmlformats.org/drawingml/2006/main">
            <a:off x="60960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Error</a:t>
            </a:r>
          </a:p>
        </p:txBody>
      </p:sp>
      <p:sp>
        <p:nvSpPr>
          <p:cNvPr id="5" name="">
            <a:extLst xmlns:a="http://schemas.openxmlformats.org/drawingml/2006/main">
              <a:ext uri="{FF2B5EF4-FFF2-40B4-BE49-F238E27FC236}">
                <a16:creationId xmlns:a16="http://schemas.microsoft.com/office/drawing/2014/main" id="{4BF8573C-3B34-47AE-AEF8-0230FDEF3C5E}"/>
              </a:ext>
            </a:extLst>
          </p:cNvPr>
          <p:cNvSpPr>
            <a:spLocks xmlns:a="http://schemas.openxmlformats.org/drawingml/2006/main" noGrp="1"/>
          </p:cNvSpPr>
          <p:nvPr/>
        </p:nvSpPr>
        <p:spPr>
          <a:xfrm xmlns:a="http://schemas.openxmlformats.org/drawingml/2006/main">
            <a:off x="609600" y="43243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mistaken premise</a:t>
            </a:r>
          </a:p>
        </p:txBody>
      </p:sp>
      <p:sp>
        <p:nvSpPr>
          <p:cNvPr id="6" name="">
            <a:extLst xmlns:a="http://schemas.openxmlformats.org/drawingml/2006/main">
              <a:ext uri="{FF2B5EF4-FFF2-40B4-BE49-F238E27FC236}">
                <a16:creationId xmlns:a16="http://schemas.microsoft.com/office/drawing/2014/main" id="{52209E46-7A34-420A-B529-0BB96DBC7C04}"/>
              </a:ext>
            </a:extLst>
          </p:cNvPr>
          <p:cNvSpPr>
            <a:spLocks xmlns:a="http://schemas.openxmlformats.org/drawingml/2006/main" noGrp="1"/>
          </p:cNvSpPr>
          <p:nvPr/>
        </p:nvSpPr>
        <p:spPr>
          <a:xfrm xmlns:a="http://schemas.openxmlformats.org/drawingml/2006/main">
            <a:off x="443865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Manipulation</a:t>
            </a:r>
          </a:p>
        </p:txBody>
      </p:sp>
      <p:sp>
        <p:nvSpPr>
          <p:cNvPr id="7" name="">
            <a:extLst xmlns:a="http://schemas.openxmlformats.org/drawingml/2006/main">
              <a:ext uri="{FF2B5EF4-FFF2-40B4-BE49-F238E27FC236}">
                <a16:creationId xmlns:a16="http://schemas.microsoft.com/office/drawing/2014/main" id="{EC2178B0-DA0F-485F-90F4-A21D9854E0A3}"/>
              </a:ext>
            </a:extLst>
          </p:cNvPr>
          <p:cNvSpPr>
            <a:spLocks xmlns:a="http://schemas.openxmlformats.org/drawingml/2006/main" noGrp="1"/>
          </p:cNvSpPr>
          <p:nvPr/>
        </p:nvSpPr>
        <p:spPr>
          <a:xfrm xmlns:a="http://schemas.openxmlformats.org/drawingml/2006/main">
            <a:off x="4438650" y="43243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misleading claim</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of permission</a:t>
            </a:r>
          </a:p>
        </p:txBody>
      </p:sp>
      <p:sp>
        <p:nvSpPr>
          <p:cNvPr id="8" name="">
            <a:extLst xmlns:a="http://schemas.openxmlformats.org/drawingml/2006/main">
              <a:ext uri="{FF2B5EF4-FFF2-40B4-BE49-F238E27FC236}">
                <a16:creationId xmlns:a16="http://schemas.microsoft.com/office/drawing/2014/main" id="{62666544-1391-4331-BC43-EC92123593BB}"/>
              </a:ext>
            </a:extLst>
          </p:cNvPr>
          <p:cNvSpPr>
            <a:spLocks xmlns:a="http://schemas.openxmlformats.org/drawingml/2006/main" noGrp="1"/>
          </p:cNvSpPr>
          <p:nvPr/>
        </p:nvSpPr>
        <p:spPr>
          <a:xfrm xmlns:a="http://schemas.openxmlformats.org/drawingml/2006/main">
            <a:off x="8286750" y="36766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Evasion</a:t>
            </a:r>
          </a:p>
        </p:txBody>
      </p:sp>
      <p:sp>
        <p:nvSpPr>
          <p:cNvPr id="9" name="">
            <a:extLst xmlns:a="http://schemas.openxmlformats.org/drawingml/2006/main">
              <a:ext uri="{FF2B5EF4-FFF2-40B4-BE49-F238E27FC236}">
                <a16:creationId xmlns:a16="http://schemas.microsoft.com/office/drawing/2014/main" id="{69420D47-6B64-4004-BB34-A741BB753E7D}"/>
              </a:ext>
            </a:extLst>
          </p:cNvPr>
          <p:cNvSpPr>
            <a:spLocks xmlns:a="http://schemas.openxmlformats.org/drawingml/2006/main" noGrp="1"/>
          </p:cNvSpPr>
          <p:nvPr/>
        </p:nvSpPr>
        <p:spPr>
          <a:xfrm xmlns:a="http://schemas.openxmlformats.org/drawingml/2006/main">
            <a:off x="8286750" y="4324350"/>
            <a:ext cx="3228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Working around</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restriction</a:t>
            </a:r>
          </a:p>
        </p:txBody>
      </p:sp>
      <p:sp>
        <p:nvSpPr>
          <p:cNvPr id="10" name="">
            <a:extLst xmlns:a="http://schemas.openxmlformats.org/drawingml/2006/main">
              <a:ext uri="{FF2B5EF4-FFF2-40B4-BE49-F238E27FC236}">
                <a16:creationId xmlns:a16="http://schemas.microsoft.com/office/drawing/2014/main" id="{CB76E679-8AF2-44B0-945A-A7DCAB08545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Context can describe authorization without establishing that authorization is real.</a:t>
            </a:r>
          </a:p>
        </p:txBody>
      </p:sp>
    </p:spTree>
    <p:extLst>
      <p:ext uri="{BB962C8B-B14F-4D97-AF65-F5344CB8AC3E}">
        <p14:creationId xmlns:p14="http://schemas.microsoft.com/office/powerpoint/2010/main" val="1294630200"/>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521BD0C9-40F9-4AB4-BC44-08B07E704B28}"/>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Routes, boundaries and shared signals</a:t>
            </a:r>
          </a:p>
        </p:txBody>
      </p:sp>
      <p:sp>
        <p:nvSpPr>
          <p:cNvPr id="2" name="">
            <a:extLst xmlns:a="http://schemas.openxmlformats.org/drawingml/2006/main">
              <a:ext uri="{FF2B5EF4-FFF2-40B4-BE49-F238E27FC236}">
                <a16:creationId xmlns:a16="http://schemas.microsoft.com/office/drawing/2014/main" id="{B67CBD50-3F44-4F46-8C90-BF071F4F31B7}"/>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205E9BA-D38F-4DC3-98C3-66FD8360FDC2}"/>
              </a:ext>
            </a:extLst>
          </p:cNvPr>
          <p:cNvSpPr>
            <a:spLocks xmlns:a="http://schemas.openxmlformats.org/drawingml/2006/main" noGrp="1"/>
          </p:cNvSpPr>
          <p:nvPr/>
        </p:nvSpPr>
        <p:spPr>
          <a:xfrm xmlns:a="http://schemas.openxmlformats.org/drawingml/2006/main">
            <a:off x="609600" y="15906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An alternative route</a:t>
            </a:r>
          </a:p>
        </p:txBody>
      </p:sp>
      <p:sp>
        <p:nvSpPr>
          <p:cNvPr id="4" name="">
            <a:extLst xmlns:a="http://schemas.openxmlformats.org/drawingml/2006/main">
              <a:ext uri="{FF2B5EF4-FFF2-40B4-BE49-F238E27FC236}">
                <a16:creationId xmlns:a16="http://schemas.microsoft.com/office/drawing/2014/main" id="{006F75C9-F23F-4575-B25F-B8C7D479DD23}"/>
              </a:ext>
            </a:extLst>
          </p:cNvPr>
          <p:cNvSpPr>
            <a:spLocks xmlns:a="http://schemas.openxmlformats.org/drawingml/2006/main" noGrp="1"/>
          </p:cNvSpPr>
          <p:nvPr/>
        </p:nvSpPr>
        <p:spPr>
          <a:xfrm xmlns:a="http://schemas.openxmlformats.org/drawingml/2006/main">
            <a:off x="6096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5" name="">
            <a:extLst xmlns:a="http://schemas.openxmlformats.org/drawingml/2006/main">
              <a:ext uri="{FF2B5EF4-FFF2-40B4-BE49-F238E27FC236}">
                <a16:creationId xmlns:a16="http://schemas.microsoft.com/office/drawing/2014/main" id="{A6A1F957-BCF4-46C4-A5C7-2D9C6313A566}"/>
              </a:ext>
            </a:extLst>
          </p:cNvPr>
          <p:cNvSpPr>
            <a:spLocks xmlns:a="http://schemas.openxmlformats.org/drawingml/2006/main" noGrp="1"/>
          </p:cNvSpPr>
          <p:nvPr/>
        </p:nvSpPr>
        <p:spPr>
          <a:xfrm xmlns:a="http://schemas.openxmlformats.org/drawingml/2006/main">
            <a:off x="113347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6" name="">
            <a:extLst xmlns:a="http://schemas.openxmlformats.org/drawingml/2006/main">
              <a:ext uri="{FF2B5EF4-FFF2-40B4-BE49-F238E27FC236}">
                <a16:creationId xmlns:a16="http://schemas.microsoft.com/office/drawing/2014/main" id="{9C592F7D-85AC-451C-A43F-92F0E77A7550}"/>
              </a:ext>
            </a:extLst>
          </p:cNvPr>
          <p:cNvSpPr>
            <a:spLocks xmlns:a="http://schemas.openxmlformats.org/drawingml/2006/main" noGrp="1"/>
          </p:cNvSpPr>
          <p:nvPr/>
        </p:nvSpPr>
        <p:spPr>
          <a:xfrm xmlns:a="http://schemas.openxmlformats.org/drawingml/2006/main">
            <a:off x="165735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7" name="">
            <a:extLst xmlns:a="http://schemas.openxmlformats.org/drawingml/2006/main">
              <a:ext uri="{FF2B5EF4-FFF2-40B4-BE49-F238E27FC236}">
                <a16:creationId xmlns:a16="http://schemas.microsoft.com/office/drawing/2014/main" id="{DCFDD66D-887C-42E1-B0D6-30711C9E1672}"/>
              </a:ext>
            </a:extLst>
          </p:cNvPr>
          <p:cNvSpPr>
            <a:spLocks xmlns:a="http://schemas.openxmlformats.org/drawingml/2006/main" noGrp="1"/>
          </p:cNvSpPr>
          <p:nvPr/>
        </p:nvSpPr>
        <p:spPr>
          <a:xfrm xmlns:a="http://schemas.openxmlformats.org/drawingml/2006/main">
            <a:off x="218122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8" name="">
            <a:extLst xmlns:a="http://schemas.openxmlformats.org/drawingml/2006/main">
              <a:ext uri="{FF2B5EF4-FFF2-40B4-BE49-F238E27FC236}">
                <a16:creationId xmlns:a16="http://schemas.microsoft.com/office/drawing/2014/main" id="{6D9A45A0-58E8-480B-9207-4FAC0D44C0C6}"/>
              </a:ext>
            </a:extLst>
          </p:cNvPr>
          <p:cNvSpPr>
            <a:spLocks xmlns:a="http://schemas.openxmlformats.org/drawingml/2006/main" noGrp="1"/>
          </p:cNvSpPr>
          <p:nvPr/>
        </p:nvSpPr>
        <p:spPr>
          <a:xfrm xmlns:a="http://schemas.openxmlformats.org/drawingml/2006/main">
            <a:off x="27051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9" name="">
            <a:extLst xmlns:a="http://schemas.openxmlformats.org/drawingml/2006/main">
              <a:ext uri="{FF2B5EF4-FFF2-40B4-BE49-F238E27FC236}">
                <a16:creationId xmlns:a16="http://schemas.microsoft.com/office/drawing/2014/main" id="{59965B24-1354-4CC9-9DA8-52680C8A10CD}"/>
              </a:ext>
            </a:extLst>
          </p:cNvPr>
          <p:cNvSpPr>
            <a:spLocks xmlns:a="http://schemas.openxmlformats.org/drawingml/2006/main" noGrp="1"/>
          </p:cNvSpPr>
          <p:nvPr/>
        </p:nvSpPr>
        <p:spPr>
          <a:xfrm xmlns:a="http://schemas.openxmlformats.org/drawingml/2006/main">
            <a:off x="6096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0" name="">
            <a:extLst xmlns:a="http://schemas.openxmlformats.org/drawingml/2006/main">
              <a:ext uri="{FF2B5EF4-FFF2-40B4-BE49-F238E27FC236}">
                <a16:creationId xmlns:a16="http://schemas.microsoft.com/office/drawing/2014/main" id="{5278EBF4-1CF3-48CB-AB45-237CAD5DD32F}"/>
              </a:ext>
            </a:extLst>
          </p:cNvPr>
          <p:cNvSpPr>
            <a:spLocks xmlns:a="http://schemas.openxmlformats.org/drawingml/2006/main" noGrp="1"/>
          </p:cNvSpPr>
          <p:nvPr/>
        </p:nvSpPr>
        <p:spPr>
          <a:xfrm xmlns:a="http://schemas.openxmlformats.org/drawingml/2006/main">
            <a:off x="11334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1" name="">
            <a:extLst xmlns:a="http://schemas.openxmlformats.org/drawingml/2006/main">
              <a:ext uri="{FF2B5EF4-FFF2-40B4-BE49-F238E27FC236}">
                <a16:creationId xmlns:a16="http://schemas.microsoft.com/office/drawing/2014/main" id="{5749B68B-2FDA-4F74-A035-1806F0E55DE4}"/>
              </a:ext>
            </a:extLst>
          </p:cNvPr>
          <p:cNvSpPr>
            <a:spLocks xmlns:a="http://schemas.openxmlformats.org/drawingml/2006/main" noGrp="1"/>
          </p:cNvSpPr>
          <p:nvPr/>
        </p:nvSpPr>
        <p:spPr>
          <a:xfrm xmlns:a="http://schemas.openxmlformats.org/drawingml/2006/main">
            <a:off x="1657350" y="287655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2" name="">
            <a:extLst xmlns:a="http://schemas.openxmlformats.org/drawingml/2006/main">
              <a:ext uri="{FF2B5EF4-FFF2-40B4-BE49-F238E27FC236}">
                <a16:creationId xmlns:a16="http://schemas.microsoft.com/office/drawing/2014/main" id="{823E7278-23D6-4335-856C-4F7B171E189B}"/>
              </a:ext>
            </a:extLst>
          </p:cNvPr>
          <p:cNvSpPr>
            <a:spLocks xmlns:a="http://schemas.openxmlformats.org/drawingml/2006/main" noGrp="1"/>
          </p:cNvSpPr>
          <p:nvPr/>
        </p:nvSpPr>
        <p:spPr>
          <a:xfrm xmlns:a="http://schemas.openxmlformats.org/drawingml/2006/main">
            <a:off x="21812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3" name="">
            <a:extLst xmlns:a="http://schemas.openxmlformats.org/drawingml/2006/main">
              <a:ext uri="{FF2B5EF4-FFF2-40B4-BE49-F238E27FC236}">
                <a16:creationId xmlns:a16="http://schemas.microsoft.com/office/drawing/2014/main" id="{D56B2F5B-7B54-4C24-957A-C8E1ACDE9682}"/>
              </a:ext>
            </a:extLst>
          </p:cNvPr>
          <p:cNvSpPr>
            <a:spLocks xmlns:a="http://schemas.openxmlformats.org/drawingml/2006/main" noGrp="1"/>
          </p:cNvSpPr>
          <p:nvPr/>
        </p:nvSpPr>
        <p:spPr>
          <a:xfrm xmlns:a="http://schemas.openxmlformats.org/drawingml/2006/main">
            <a:off x="27051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4" name="">
            <a:extLst xmlns:a="http://schemas.openxmlformats.org/drawingml/2006/main">
              <a:ext uri="{FF2B5EF4-FFF2-40B4-BE49-F238E27FC236}">
                <a16:creationId xmlns:a16="http://schemas.microsoft.com/office/drawing/2014/main" id="{414D5442-9E39-4DF7-8380-3543319F8752}"/>
              </a:ext>
            </a:extLst>
          </p:cNvPr>
          <p:cNvSpPr>
            <a:spLocks xmlns:a="http://schemas.openxmlformats.org/drawingml/2006/main" noGrp="1"/>
          </p:cNvSpPr>
          <p:nvPr/>
        </p:nvSpPr>
        <p:spPr>
          <a:xfrm xmlns:a="http://schemas.openxmlformats.org/drawingml/2006/main">
            <a:off x="6096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5" name="">
            <a:extLst xmlns:a="http://schemas.openxmlformats.org/drawingml/2006/main">
              <a:ext uri="{FF2B5EF4-FFF2-40B4-BE49-F238E27FC236}">
                <a16:creationId xmlns:a16="http://schemas.microsoft.com/office/drawing/2014/main" id="{4C04A94D-340B-44EB-9B1C-989929377CDB}"/>
              </a:ext>
            </a:extLst>
          </p:cNvPr>
          <p:cNvSpPr>
            <a:spLocks xmlns:a="http://schemas.openxmlformats.org/drawingml/2006/main" noGrp="1"/>
          </p:cNvSpPr>
          <p:nvPr/>
        </p:nvSpPr>
        <p:spPr>
          <a:xfrm xmlns:a="http://schemas.openxmlformats.org/drawingml/2006/main">
            <a:off x="11334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6" name="">
            <a:extLst xmlns:a="http://schemas.openxmlformats.org/drawingml/2006/main">
              <a:ext uri="{FF2B5EF4-FFF2-40B4-BE49-F238E27FC236}">
                <a16:creationId xmlns:a16="http://schemas.microsoft.com/office/drawing/2014/main" id="{F4122CB9-0EBE-450A-9A2C-E4DA878263A1}"/>
              </a:ext>
            </a:extLst>
          </p:cNvPr>
          <p:cNvSpPr>
            <a:spLocks xmlns:a="http://schemas.openxmlformats.org/drawingml/2006/main" noGrp="1"/>
          </p:cNvSpPr>
          <p:nvPr/>
        </p:nvSpPr>
        <p:spPr>
          <a:xfrm xmlns:a="http://schemas.openxmlformats.org/drawingml/2006/main">
            <a:off x="1657350" y="340042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7" name="">
            <a:extLst xmlns:a="http://schemas.openxmlformats.org/drawingml/2006/main">
              <a:ext uri="{FF2B5EF4-FFF2-40B4-BE49-F238E27FC236}">
                <a16:creationId xmlns:a16="http://schemas.microsoft.com/office/drawing/2014/main" id="{B840743E-0AA5-4347-BA4E-3C5BC96E523C}"/>
              </a:ext>
            </a:extLst>
          </p:cNvPr>
          <p:cNvSpPr>
            <a:spLocks xmlns:a="http://schemas.openxmlformats.org/drawingml/2006/main" noGrp="1"/>
          </p:cNvSpPr>
          <p:nvPr/>
        </p:nvSpPr>
        <p:spPr>
          <a:xfrm xmlns:a="http://schemas.openxmlformats.org/drawingml/2006/main">
            <a:off x="21812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8" name="">
            <a:extLst xmlns:a="http://schemas.openxmlformats.org/drawingml/2006/main">
              <a:ext uri="{FF2B5EF4-FFF2-40B4-BE49-F238E27FC236}">
                <a16:creationId xmlns:a16="http://schemas.microsoft.com/office/drawing/2014/main" id="{E525FD6D-9EDA-4A74-A1D9-DE249BE0D671}"/>
              </a:ext>
            </a:extLst>
          </p:cNvPr>
          <p:cNvSpPr>
            <a:spLocks xmlns:a="http://schemas.openxmlformats.org/drawingml/2006/main" noGrp="1"/>
          </p:cNvSpPr>
          <p:nvPr/>
        </p:nvSpPr>
        <p:spPr>
          <a:xfrm xmlns:a="http://schemas.openxmlformats.org/drawingml/2006/main">
            <a:off x="27051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9" name="">
            <a:extLst xmlns:a="http://schemas.openxmlformats.org/drawingml/2006/main">
              <a:ext uri="{FF2B5EF4-FFF2-40B4-BE49-F238E27FC236}">
                <a16:creationId xmlns:a16="http://schemas.microsoft.com/office/drawing/2014/main" id="{2B10D95C-5D8A-436D-942F-6BB35F291087}"/>
              </a:ext>
            </a:extLst>
          </p:cNvPr>
          <p:cNvSpPr>
            <a:spLocks xmlns:a="http://schemas.openxmlformats.org/drawingml/2006/main" noGrp="1"/>
          </p:cNvSpPr>
          <p:nvPr/>
        </p:nvSpPr>
        <p:spPr>
          <a:xfrm xmlns:a="http://schemas.openxmlformats.org/drawingml/2006/main">
            <a:off x="6096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0" name="">
            <a:extLst xmlns:a="http://schemas.openxmlformats.org/drawingml/2006/main">
              <a:ext uri="{FF2B5EF4-FFF2-40B4-BE49-F238E27FC236}">
                <a16:creationId xmlns:a16="http://schemas.microsoft.com/office/drawing/2014/main" id="{A3108540-A234-4357-9AA3-67221E734BAA}"/>
              </a:ext>
            </a:extLst>
          </p:cNvPr>
          <p:cNvSpPr>
            <a:spLocks xmlns:a="http://schemas.openxmlformats.org/drawingml/2006/main" noGrp="1"/>
          </p:cNvSpPr>
          <p:nvPr/>
        </p:nvSpPr>
        <p:spPr>
          <a:xfrm xmlns:a="http://schemas.openxmlformats.org/drawingml/2006/main">
            <a:off x="11334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1" name="">
            <a:extLst xmlns:a="http://schemas.openxmlformats.org/drawingml/2006/main">
              <a:ext uri="{FF2B5EF4-FFF2-40B4-BE49-F238E27FC236}">
                <a16:creationId xmlns:a16="http://schemas.microsoft.com/office/drawing/2014/main" id="{2610C0CC-E274-47CB-BCD9-7813DB93CE38}"/>
              </a:ext>
            </a:extLst>
          </p:cNvPr>
          <p:cNvSpPr>
            <a:spLocks xmlns:a="http://schemas.openxmlformats.org/drawingml/2006/main" noGrp="1"/>
          </p:cNvSpPr>
          <p:nvPr/>
        </p:nvSpPr>
        <p:spPr>
          <a:xfrm xmlns:a="http://schemas.openxmlformats.org/drawingml/2006/main">
            <a:off x="1657350" y="392430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2" name="">
            <a:extLst xmlns:a="http://schemas.openxmlformats.org/drawingml/2006/main">
              <a:ext uri="{FF2B5EF4-FFF2-40B4-BE49-F238E27FC236}">
                <a16:creationId xmlns:a16="http://schemas.microsoft.com/office/drawing/2014/main" id="{E0DF15BD-FF98-4A0D-BBA3-B18A501A502D}"/>
              </a:ext>
            </a:extLst>
          </p:cNvPr>
          <p:cNvSpPr>
            <a:spLocks xmlns:a="http://schemas.openxmlformats.org/drawingml/2006/main" noGrp="1"/>
          </p:cNvSpPr>
          <p:nvPr/>
        </p:nvSpPr>
        <p:spPr>
          <a:xfrm xmlns:a="http://schemas.openxmlformats.org/drawingml/2006/main">
            <a:off x="21812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3" name="">
            <a:extLst xmlns:a="http://schemas.openxmlformats.org/drawingml/2006/main">
              <a:ext uri="{FF2B5EF4-FFF2-40B4-BE49-F238E27FC236}">
                <a16:creationId xmlns:a16="http://schemas.microsoft.com/office/drawing/2014/main" id="{6B7D8C78-EA62-4AAA-AF23-C806164B0734}"/>
              </a:ext>
            </a:extLst>
          </p:cNvPr>
          <p:cNvSpPr>
            <a:spLocks xmlns:a="http://schemas.openxmlformats.org/drawingml/2006/main" noGrp="1"/>
          </p:cNvSpPr>
          <p:nvPr/>
        </p:nvSpPr>
        <p:spPr>
          <a:xfrm xmlns:a="http://schemas.openxmlformats.org/drawingml/2006/main">
            <a:off x="27051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4" name="">
            <a:extLst xmlns:a="http://schemas.openxmlformats.org/drawingml/2006/main">
              <a:ext uri="{FF2B5EF4-FFF2-40B4-BE49-F238E27FC236}">
                <a16:creationId xmlns:a16="http://schemas.microsoft.com/office/drawing/2014/main" id="{463AED13-FF76-481D-912F-706D4C70086B}"/>
              </a:ext>
            </a:extLst>
          </p:cNvPr>
          <p:cNvSpPr>
            <a:spLocks xmlns:a="http://schemas.openxmlformats.org/drawingml/2006/main" noGrp="1"/>
          </p:cNvSpPr>
          <p:nvPr/>
        </p:nvSpPr>
        <p:spPr>
          <a:xfrm xmlns:a="http://schemas.openxmlformats.org/drawingml/2006/main">
            <a:off x="6096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5" name="">
            <a:extLst xmlns:a="http://schemas.openxmlformats.org/drawingml/2006/main">
              <a:ext uri="{FF2B5EF4-FFF2-40B4-BE49-F238E27FC236}">
                <a16:creationId xmlns:a16="http://schemas.microsoft.com/office/drawing/2014/main" id="{0786E4D8-CB04-4340-809D-D4B0FD15B2DA}"/>
              </a:ext>
            </a:extLst>
          </p:cNvPr>
          <p:cNvSpPr>
            <a:spLocks xmlns:a="http://schemas.openxmlformats.org/drawingml/2006/main" noGrp="1"/>
          </p:cNvSpPr>
          <p:nvPr/>
        </p:nvSpPr>
        <p:spPr>
          <a:xfrm xmlns:a="http://schemas.openxmlformats.org/drawingml/2006/main">
            <a:off x="11334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6" name="">
            <a:extLst xmlns:a="http://schemas.openxmlformats.org/drawingml/2006/main">
              <a:ext uri="{FF2B5EF4-FFF2-40B4-BE49-F238E27FC236}">
                <a16:creationId xmlns:a16="http://schemas.microsoft.com/office/drawing/2014/main" id="{354C792F-26EE-46B6-9D56-A0E538F0CEDD}"/>
              </a:ext>
            </a:extLst>
          </p:cNvPr>
          <p:cNvSpPr>
            <a:spLocks xmlns:a="http://schemas.openxmlformats.org/drawingml/2006/main" noGrp="1"/>
          </p:cNvSpPr>
          <p:nvPr/>
        </p:nvSpPr>
        <p:spPr>
          <a:xfrm xmlns:a="http://schemas.openxmlformats.org/drawingml/2006/main">
            <a:off x="1657350" y="444817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7" name="">
            <a:extLst xmlns:a="http://schemas.openxmlformats.org/drawingml/2006/main">
              <a:ext uri="{FF2B5EF4-FFF2-40B4-BE49-F238E27FC236}">
                <a16:creationId xmlns:a16="http://schemas.microsoft.com/office/drawing/2014/main" id="{60A56700-7812-4E18-A3B5-A303E3B7CA5D}"/>
              </a:ext>
            </a:extLst>
          </p:cNvPr>
          <p:cNvSpPr>
            <a:spLocks xmlns:a="http://schemas.openxmlformats.org/drawingml/2006/main" noGrp="1"/>
          </p:cNvSpPr>
          <p:nvPr/>
        </p:nvSpPr>
        <p:spPr>
          <a:xfrm xmlns:a="http://schemas.openxmlformats.org/drawingml/2006/main">
            <a:off x="21812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8" name="">
            <a:extLst xmlns:a="http://schemas.openxmlformats.org/drawingml/2006/main">
              <a:ext uri="{FF2B5EF4-FFF2-40B4-BE49-F238E27FC236}">
                <a16:creationId xmlns:a16="http://schemas.microsoft.com/office/drawing/2014/main" id="{9C56733C-EC8C-45CA-ADC1-78573C2D8078}"/>
              </a:ext>
            </a:extLst>
          </p:cNvPr>
          <p:cNvSpPr>
            <a:spLocks xmlns:a="http://schemas.openxmlformats.org/drawingml/2006/main" noGrp="1"/>
          </p:cNvSpPr>
          <p:nvPr/>
        </p:nvSpPr>
        <p:spPr>
          <a:xfrm xmlns:a="http://schemas.openxmlformats.org/drawingml/2006/main">
            <a:off x="27051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9" name="">
            <a:extLst xmlns:a="http://schemas.openxmlformats.org/drawingml/2006/main">
              <a:ext uri="{FF2B5EF4-FFF2-40B4-BE49-F238E27FC236}">
                <a16:creationId xmlns:a16="http://schemas.microsoft.com/office/drawing/2014/main" id="{ED1F982D-CDA5-4A95-ABE8-711DFE2EAC6D}"/>
              </a:ext>
            </a:extLst>
          </p:cNvPr>
          <p:cNvSpPr>
            <a:spLocks xmlns:a="http://schemas.openxmlformats.org/drawingml/2006/main" noGrp="1"/>
          </p:cNvSpPr>
          <p:nvPr/>
        </p:nvSpPr>
        <p:spPr>
          <a:xfrm xmlns:a="http://schemas.openxmlformats.org/drawingml/2006/main">
            <a:off x="7429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0A73FABA-B87B-4AB0-AF9A-F9B4052524B1}"/>
              </a:ext>
            </a:extLst>
          </p:cNvPr>
          <p:cNvSpPr>
            <a:spLocks xmlns:a="http://schemas.openxmlformats.org/drawingml/2006/main" noGrp="1"/>
          </p:cNvSpPr>
          <p:nvPr/>
        </p:nvSpPr>
        <p:spPr>
          <a:xfrm xmlns:a="http://schemas.openxmlformats.org/drawingml/2006/main">
            <a:off x="28384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G</a:t>
            </a:r>
          </a:p>
        </p:txBody>
      </p:sp>
      <p:sp>
        <p:nvSpPr>
          <p:cNvPr id="31" name="">
            <a:extLst xmlns:a="http://schemas.openxmlformats.org/drawingml/2006/main">
              <a:ext uri="{FF2B5EF4-FFF2-40B4-BE49-F238E27FC236}">
                <a16:creationId xmlns:a16="http://schemas.microsoft.com/office/drawing/2014/main" id="{CC52B24B-9620-4A08-8476-2305C9C08E74}"/>
              </a:ext>
            </a:extLst>
          </p:cNvPr>
          <p:cNvSpPr>
            <a:spLocks xmlns:a="http://schemas.openxmlformats.org/drawingml/2006/main" noGrp="1"/>
          </p:cNvSpPr>
          <p:nvPr/>
        </p:nvSpPr>
        <p:spPr>
          <a:xfrm xmlns:a="http://schemas.openxmlformats.org/drawingml/2006/main">
            <a:off x="3571875" y="29622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Wall</a:t>
            </a:r>
          </a:p>
        </p:txBody>
      </p:sp>
      <p:sp>
        <p:nvSpPr>
          <p:cNvPr id="32" name="">
            <a:extLst xmlns:a="http://schemas.openxmlformats.org/drawingml/2006/main">
              <a:ext uri="{FF2B5EF4-FFF2-40B4-BE49-F238E27FC236}">
                <a16:creationId xmlns:a16="http://schemas.microsoft.com/office/drawing/2014/main" id="{0D95BFF6-E452-417C-B963-6D974BF110F7}"/>
              </a:ext>
            </a:extLst>
          </p:cNvPr>
          <p:cNvSpPr>
            <a:spLocks xmlns:a="http://schemas.openxmlformats.org/drawingml/2006/main" noGrp="1"/>
          </p:cNvSpPr>
          <p:nvPr/>
        </p:nvSpPr>
        <p:spPr>
          <a:xfrm xmlns:a="http://schemas.openxmlformats.org/drawingml/2006/main">
            <a:off x="3571875" y="3676650"/>
            <a:ext cx="1876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7C78"/>
                </a:solidFill>
                <a:latin typeface="Arial"/>
                <a:ea typeface="Arial"/>
                <a:cs typeface="Arial"/>
              </a:defRPr>
            </a:pPr>
            <a:r>
              <a:rPr sz="2025" b="0">
                <a:solidFill>
                  <a:srgbClr val="007C78"/>
                </a:solidFill>
                <a:latin typeface="Arial"/>
                <a:ea typeface="Arial"/>
                <a:cs typeface="Arial"/>
              </a:rPr>
              <a:t>Available path</a:t>
            </a:r>
          </a:p>
        </p:txBody>
      </p:sp>
      <p:sp>
        <p:nvSpPr>
          <p:cNvPr id="33" name="">
            <a:extLst xmlns:a="http://schemas.openxmlformats.org/drawingml/2006/main">
              <a:ext uri="{FF2B5EF4-FFF2-40B4-BE49-F238E27FC236}">
                <a16:creationId xmlns:a16="http://schemas.microsoft.com/office/drawing/2014/main" id="{BDE35079-A77A-4764-B008-144827C560B2}"/>
              </a:ext>
            </a:extLst>
          </p:cNvPr>
          <p:cNvSpPr>
            <a:spLocks xmlns:a="http://schemas.openxmlformats.org/drawingml/2006/main" noGrp="1"/>
          </p:cNvSpPr>
          <p:nvPr/>
        </p:nvSpPr>
        <p:spPr>
          <a:xfrm xmlns:a="http://schemas.openxmlformats.org/drawingml/2006/main">
            <a:off x="6486525" y="15906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A shared marker</a:t>
            </a:r>
          </a:p>
        </p:txBody>
      </p:sp>
      <p:sp>
        <p:nvSpPr>
          <p:cNvPr id="34" name="">
            <a:extLst xmlns:a="http://schemas.openxmlformats.org/drawingml/2006/main">
              <a:ext uri="{FF2B5EF4-FFF2-40B4-BE49-F238E27FC236}">
                <a16:creationId xmlns:a16="http://schemas.microsoft.com/office/drawing/2014/main" id="{1F5C32DA-A898-4159-AB7F-1FC7214C76BC}"/>
              </a:ext>
            </a:extLst>
          </p:cNvPr>
          <p:cNvSpPr>
            <a:spLocks xmlns:a="http://schemas.openxmlformats.org/drawingml/2006/main" noGrp="1"/>
          </p:cNvSpPr>
          <p:nvPr/>
        </p:nvSpPr>
        <p:spPr>
          <a:xfrm xmlns:a="http://schemas.openxmlformats.org/drawingml/2006/main">
            <a:off x="65055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5" name="">
            <a:extLst xmlns:a="http://schemas.openxmlformats.org/drawingml/2006/main">
              <a:ext uri="{FF2B5EF4-FFF2-40B4-BE49-F238E27FC236}">
                <a16:creationId xmlns:a16="http://schemas.microsoft.com/office/drawing/2014/main" id="{295D04FC-4DAC-4419-802E-A736B366E24C}"/>
              </a:ext>
            </a:extLst>
          </p:cNvPr>
          <p:cNvSpPr>
            <a:spLocks xmlns:a="http://schemas.openxmlformats.org/drawingml/2006/main" noGrp="1"/>
          </p:cNvSpPr>
          <p:nvPr/>
        </p:nvSpPr>
        <p:spPr>
          <a:xfrm xmlns:a="http://schemas.openxmlformats.org/drawingml/2006/main">
            <a:off x="702945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6" name="">
            <a:extLst xmlns:a="http://schemas.openxmlformats.org/drawingml/2006/main">
              <a:ext uri="{FF2B5EF4-FFF2-40B4-BE49-F238E27FC236}">
                <a16:creationId xmlns:a16="http://schemas.microsoft.com/office/drawing/2014/main" id="{874A88F4-2CAD-4D1A-BA17-C0E0F72F84AB}"/>
              </a:ext>
            </a:extLst>
          </p:cNvPr>
          <p:cNvSpPr>
            <a:spLocks xmlns:a="http://schemas.openxmlformats.org/drawingml/2006/main" noGrp="1"/>
          </p:cNvSpPr>
          <p:nvPr/>
        </p:nvSpPr>
        <p:spPr>
          <a:xfrm xmlns:a="http://schemas.openxmlformats.org/drawingml/2006/main">
            <a:off x="7553325" y="2352675"/>
            <a:ext cx="523875" cy="523875"/>
          </a:xfrm>
          <a:prstGeom xmlns:a="http://schemas.openxmlformats.org/drawingml/2006/main" prst="rect">
            <a:avLst/>
          </a:prstGeom>
          <a:solidFill xmlns:a="http://schemas.openxmlformats.org/drawingml/2006/main">
            <a:srgbClr val="F4C4A4"/>
          </a:solidFill>
          <a:ln xmlns:a="http://schemas.openxmlformats.org/drawingml/2006/main" w="9525">
            <a:solidFill>
              <a:srgbClr val="C8D2D5"/>
            </a:solidFill>
          </a:ln>
        </p:spPr>
      </p:sp>
      <p:sp>
        <p:nvSpPr>
          <p:cNvPr id="37" name="">
            <a:extLst xmlns:a="http://schemas.openxmlformats.org/drawingml/2006/main">
              <a:ext uri="{FF2B5EF4-FFF2-40B4-BE49-F238E27FC236}">
                <a16:creationId xmlns:a16="http://schemas.microsoft.com/office/drawing/2014/main" id="{C7559972-201E-47C6-BD41-944388FC50A1}"/>
              </a:ext>
            </a:extLst>
          </p:cNvPr>
          <p:cNvSpPr>
            <a:spLocks xmlns:a="http://schemas.openxmlformats.org/drawingml/2006/main" noGrp="1"/>
          </p:cNvSpPr>
          <p:nvPr/>
        </p:nvSpPr>
        <p:spPr>
          <a:xfrm xmlns:a="http://schemas.openxmlformats.org/drawingml/2006/main">
            <a:off x="807720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8" name="">
            <a:extLst xmlns:a="http://schemas.openxmlformats.org/drawingml/2006/main">
              <a:ext uri="{FF2B5EF4-FFF2-40B4-BE49-F238E27FC236}">
                <a16:creationId xmlns:a16="http://schemas.microsoft.com/office/drawing/2014/main" id="{A6F6CD7B-F1FE-4728-998F-97A9F04355B8}"/>
              </a:ext>
            </a:extLst>
          </p:cNvPr>
          <p:cNvSpPr>
            <a:spLocks xmlns:a="http://schemas.openxmlformats.org/drawingml/2006/main" noGrp="1"/>
          </p:cNvSpPr>
          <p:nvPr/>
        </p:nvSpPr>
        <p:spPr>
          <a:xfrm xmlns:a="http://schemas.openxmlformats.org/drawingml/2006/main">
            <a:off x="86010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9" name="">
            <a:extLst xmlns:a="http://schemas.openxmlformats.org/drawingml/2006/main">
              <a:ext uri="{FF2B5EF4-FFF2-40B4-BE49-F238E27FC236}">
                <a16:creationId xmlns:a16="http://schemas.microsoft.com/office/drawing/2014/main" id="{BA462D16-54A5-4AFE-827A-0CB2823332B9}"/>
              </a:ext>
            </a:extLst>
          </p:cNvPr>
          <p:cNvSpPr>
            <a:spLocks xmlns:a="http://schemas.openxmlformats.org/drawingml/2006/main" noGrp="1"/>
          </p:cNvSpPr>
          <p:nvPr/>
        </p:nvSpPr>
        <p:spPr>
          <a:xfrm xmlns:a="http://schemas.openxmlformats.org/drawingml/2006/main">
            <a:off x="65055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0" name="">
            <a:extLst xmlns:a="http://schemas.openxmlformats.org/drawingml/2006/main">
              <a:ext uri="{FF2B5EF4-FFF2-40B4-BE49-F238E27FC236}">
                <a16:creationId xmlns:a16="http://schemas.microsoft.com/office/drawing/2014/main" id="{EF12A7E2-FDBD-4B3C-85BE-D20A8F6886AA}"/>
              </a:ext>
            </a:extLst>
          </p:cNvPr>
          <p:cNvSpPr>
            <a:spLocks xmlns:a="http://schemas.openxmlformats.org/drawingml/2006/main" noGrp="1"/>
          </p:cNvSpPr>
          <p:nvPr/>
        </p:nvSpPr>
        <p:spPr>
          <a:xfrm xmlns:a="http://schemas.openxmlformats.org/drawingml/2006/main">
            <a:off x="702945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1" name="">
            <a:extLst xmlns:a="http://schemas.openxmlformats.org/drawingml/2006/main">
              <a:ext uri="{FF2B5EF4-FFF2-40B4-BE49-F238E27FC236}">
                <a16:creationId xmlns:a16="http://schemas.microsoft.com/office/drawing/2014/main" id="{4181C589-1083-46ED-8043-04809286BF6D}"/>
              </a:ext>
            </a:extLst>
          </p:cNvPr>
          <p:cNvSpPr>
            <a:spLocks xmlns:a="http://schemas.openxmlformats.org/drawingml/2006/main" noGrp="1"/>
          </p:cNvSpPr>
          <p:nvPr/>
        </p:nvSpPr>
        <p:spPr>
          <a:xfrm xmlns:a="http://schemas.openxmlformats.org/drawingml/2006/main">
            <a:off x="75533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2" name="">
            <a:extLst xmlns:a="http://schemas.openxmlformats.org/drawingml/2006/main">
              <a:ext uri="{FF2B5EF4-FFF2-40B4-BE49-F238E27FC236}">
                <a16:creationId xmlns:a16="http://schemas.microsoft.com/office/drawing/2014/main" id="{12B9700D-0D00-4543-9352-50ECB4EEA586}"/>
              </a:ext>
            </a:extLst>
          </p:cNvPr>
          <p:cNvSpPr>
            <a:spLocks xmlns:a="http://schemas.openxmlformats.org/drawingml/2006/main" noGrp="1"/>
          </p:cNvSpPr>
          <p:nvPr/>
        </p:nvSpPr>
        <p:spPr>
          <a:xfrm xmlns:a="http://schemas.openxmlformats.org/drawingml/2006/main">
            <a:off x="807720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3" name="">
            <a:extLst xmlns:a="http://schemas.openxmlformats.org/drawingml/2006/main">
              <a:ext uri="{FF2B5EF4-FFF2-40B4-BE49-F238E27FC236}">
                <a16:creationId xmlns:a16="http://schemas.microsoft.com/office/drawing/2014/main" id="{8B4DB685-DCF1-4485-8618-229E8FB64CFB}"/>
              </a:ext>
            </a:extLst>
          </p:cNvPr>
          <p:cNvSpPr>
            <a:spLocks xmlns:a="http://schemas.openxmlformats.org/drawingml/2006/main" noGrp="1"/>
          </p:cNvSpPr>
          <p:nvPr/>
        </p:nvSpPr>
        <p:spPr>
          <a:xfrm xmlns:a="http://schemas.openxmlformats.org/drawingml/2006/main">
            <a:off x="86010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4" name="">
            <a:extLst xmlns:a="http://schemas.openxmlformats.org/drawingml/2006/main">
              <a:ext uri="{FF2B5EF4-FFF2-40B4-BE49-F238E27FC236}">
                <a16:creationId xmlns:a16="http://schemas.microsoft.com/office/drawing/2014/main" id="{9E881AE8-6BF4-40B6-8C91-A17FF93492A9}"/>
              </a:ext>
            </a:extLst>
          </p:cNvPr>
          <p:cNvSpPr>
            <a:spLocks xmlns:a="http://schemas.openxmlformats.org/drawingml/2006/main" noGrp="1"/>
          </p:cNvSpPr>
          <p:nvPr/>
        </p:nvSpPr>
        <p:spPr>
          <a:xfrm xmlns:a="http://schemas.openxmlformats.org/drawingml/2006/main">
            <a:off x="65055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5" name="">
            <a:extLst xmlns:a="http://schemas.openxmlformats.org/drawingml/2006/main">
              <a:ext uri="{FF2B5EF4-FFF2-40B4-BE49-F238E27FC236}">
                <a16:creationId xmlns:a16="http://schemas.microsoft.com/office/drawing/2014/main" id="{2FF113CA-BC9F-4E30-9D52-B6F1847ED177}"/>
              </a:ext>
            </a:extLst>
          </p:cNvPr>
          <p:cNvSpPr>
            <a:spLocks xmlns:a="http://schemas.openxmlformats.org/drawingml/2006/main" noGrp="1"/>
          </p:cNvSpPr>
          <p:nvPr/>
        </p:nvSpPr>
        <p:spPr>
          <a:xfrm xmlns:a="http://schemas.openxmlformats.org/drawingml/2006/main">
            <a:off x="702945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6" name="">
            <a:extLst xmlns:a="http://schemas.openxmlformats.org/drawingml/2006/main">
              <a:ext uri="{FF2B5EF4-FFF2-40B4-BE49-F238E27FC236}">
                <a16:creationId xmlns:a16="http://schemas.microsoft.com/office/drawing/2014/main" id="{E0207A99-7379-4655-A95D-C7BA9FBF8852}"/>
              </a:ext>
            </a:extLst>
          </p:cNvPr>
          <p:cNvSpPr>
            <a:spLocks xmlns:a="http://schemas.openxmlformats.org/drawingml/2006/main" noGrp="1"/>
          </p:cNvSpPr>
          <p:nvPr/>
        </p:nvSpPr>
        <p:spPr>
          <a:xfrm xmlns:a="http://schemas.openxmlformats.org/drawingml/2006/main">
            <a:off x="75533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7" name="">
            <a:extLst xmlns:a="http://schemas.openxmlformats.org/drawingml/2006/main">
              <a:ext uri="{FF2B5EF4-FFF2-40B4-BE49-F238E27FC236}">
                <a16:creationId xmlns:a16="http://schemas.microsoft.com/office/drawing/2014/main" id="{FCF88F3E-76F4-4EB4-A6F7-DEF57074C097}"/>
              </a:ext>
            </a:extLst>
          </p:cNvPr>
          <p:cNvSpPr>
            <a:spLocks xmlns:a="http://schemas.openxmlformats.org/drawingml/2006/main" noGrp="1"/>
          </p:cNvSpPr>
          <p:nvPr/>
        </p:nvSpPr>
        <p:spPr>
          <a:xfrm xmlns:a="http://schemas.openxmlformats.org/drawingml/2006/main">
            <a:off x="807720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8" name="">
            <a:extLst xmlns:a="http://schemas.openxmlformats.org/drawingml/2006/main">
              <a:ext uri="{FF2B5EF4-FFF2-40B4-BE49-F238E27FC236}">
                <a16:creationId xmlns:a16="http://schemas.microsoft.com/office/drawing/2014/main" id="{2633D698-0B39-4843-AA80-C16F49C5450F}"/>
              </a:ext>
            </a:extLst>
          </p:cNvPr>
          <p:cNvSpPr>
            <a:spLocks xmlns:a="http://schemas.openxmlformats.org/drawingml/2006/main" noGrp="1"/>
          </p:cNvSpPr>
          <p:nvPr/>
        </p:nvSpPr>
        <p:spPr>
          <a:xfrm xmlns:a="http://schemas.openxmlformats.org/drawingml/2006/main">
            <a:off x="86010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9" name="">
            <a:extLst xmlns:a="http://schemas.openxmlformats.org/drawingml/2006/main">
              <a:ext uri="{FF2B5EF4-FFF2-40B4-BE49-F238E27FC236}">
                <a16:creationId xmlns:a16="http://schemas.microsoft.com/office/drawing/2014/main" id="{7E6AEE3B-16A6-4FDC-AF8A-43B78FF4A3B6}"/>
              </a:ext>
            </a:extLst>
          </p:cNvPr>
          <p:cNvSpPr>
            <a:spLocks xmlns:a="http://schemas.openxmlformats.org/drawingml/2006/main" noGrp="1"/>
          </p:cNvSpPr>
          <p:nvPr/>
        </p:nvSpPr>
        <p:spPr>
          <a:xfrm xmlns:a="http://schemas.openxmlformats.org/drawingml/2006/main">
            <a:off x="65055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0" name="">
            <a:extLst xmlns:a="http://schemas.openxmlformats.org/drawingml/2006/main">
              <a:ext uri="{FF2B5EF4-FFF2-40B4-BE49-F238E27FC236}">
                <a16:creationId xmlns:a16="http://schemas.microsoft.com/office/drawing/2014/main" id="{99136B2A-FEF9-46C6-A2BE-CF03FD6C061C}"/>
              </a:ext>
            </a:extLst>
          </p:cNvPr>
          <p:cNvSpPr>
            <a:spLocks xmlns:a="http://schemas.openxmlformats.org/drawingml/2006/main" noGrp="1"/>
          </p:cNvSpPr>
          <p:nvPr/>
        </p:nvSpPr>
        <p:spPr>
          <a:xfrm xmlns:a="http://schemas.openxmlformats.org/drawingml/2006/main">
            <a:off x="702945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1" name="">
            <a:extLst xmlns:a="http://schemas.openxmlformats.org/drawingml/2006/main">
              <a:ext uri="{FF2B5EF4-FFF2-40B4-BE49-F238E27FC236}">
                <a16:creationId xmlns:a16="http://schemas.microsoft.com/office/drawing/2014/main" id="{47CE682E-7EA6-44DC-9C9C-EC2F903FAD2D}"/>
              </a:ext>
            </a:extLst>
          </p:cNvPr>
          <p:cNvSpPr>
            <a:spLocks xmlns:a="http://schemas.openxmlformats.org/drawingml/2006/main" noGrp="1"/>
          </p:cNvSpPr>
          <p:nvPr/>
        </p:nvSpPr>
        <p:spPr>
          <a:xfrm xmlns:a="http://schemas.openxmlformats.org/drawingml/2006/main">
            <a:off x="75533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2" name="">
            <a:extLst xmlns:a="http://schemas.openxmlformats.org/drawingml/2006/main">
              <a:ext uri="{FF2B5EF4-FFF2-40B4-BE49-F238E27FC236}">
                <a16:creationId xmlns:a16="http://schemas.microsoft.com/office/drawing/2014/main" id="{CB771B9B-8672-4736-9881-B6A5741AE24E}"/>
              </a:ext>
            </a:extLst>
          </p:cNvPr>
          <p:cNvSpPr>
            <a:spLocks xmlns:a="http://schemas.openxmlformats.org/drawingml/2006/main" noGrp="1"/>
          </p:cNvSpPr>
          <p:nvPr/>
        </p:nvSpPr>
        <p:spPr>
          <a:xfrm xmlns:a="http://schemas.openxmlformats.org/drawingml/2006/main">
            <a:off x="807720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3" name="">
            <a:extLst xmlns:a="http://schemas.openxmlformats.org/drawingml/2006/main">
              <a:ext uri="{FF2B5EF4-FFF2-40B4-BE49-F238E27FC236}">
                <a16:creationId xmlns:a16="http://schemas.microsoft.com/office/drawing/2014/main" id="{5476137E-E80A-4A20-85B7-7A8FFDC5FE41}"/>
              </a:ext>
            </a:extLst>
          </p:cNvPr>
          <p:cNvSpPr>
            <a:spLocks xmlns:a="http://schemas.openxmlformats.org/drawingml/2006/main" noGrp="1"/>
          </p:cNvSpPr>
          <p:nvPr/>
        </p:nvSpPr>
        <p:spPr>
          <a:xfrm xmlns:a="http://schemas.openxmlformats.org/drawingml/2006/main">
            <a:off x="86010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4" name="">
            <a:extLst xmlns:a="http://schemas.openxmlformats.org/drawingml/2006/main">
              <a:ext uri="{FF2B5EF4-FFF2-40B4-BE49-F238E27FC236}">
                <a16:creationId xmlns:a16="http://schemas.microsoft.com/office/drawing/2014/main" id="{520ADAA6-F30C-4568-8514-F972137CE61C}"/>
              </a:ext>
            </a:extLst>
          </p:cNvPr>
          <p:cNvSpPr>
            <a:spLocks xmlns:a="http://schemas.openxmlformats.org/drawingml/2006/main" noGrp="1"/>
          </p:cNvSpPr>
          <p:nvPr/>
        </p:nvSpPr>
        <p:spPr>
          <a:xfrm xmlns:a="http://schemas.openxmlformats.org/drawingml/2006/main">
            <a:off x="65055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5" name="">
            <a:extLst xmlns:a="http://schemas.openxmlformats.org/drawingml/2006/main">
              <a:ext uri="{FF2B5EF4-FFF2-40B4-BE49-F238E27FC236}">
                <a16:creationId xmlns:a16="http://schemas.microsoft.com/office/drawing/2014/main" id="{1DCA1D9A-5EE3-492B-8053-4C5C939C158D}"/>
              </a:ext>
            </a:extLst>
          </p:cNvPr>
          <p:cNvSpPr>
            <a:spLocks xmlns:a="http://schemas.openxmlformats.org/drawingml/2006/main" noGrp="1"/>
          </p:cNvSpPr>
          <p:nvPr/>
        </p:nvSpPr>
        <p:spPr>
          <a:xfrm xmlns:a="http://schemas.openxmlformats.org/drawingml/2006/main">
            <a:off x="702945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6" name="">
            <a:extLst xmlns:a="http://schemas.openxmlformats.org/drawingml/2006/main">
              <a:ext uri="{FF2B5EF4-FFF2-40B4-BE49-F238E27FC236}">
                <a16:creationId xmlns:a16="http://schemas.microsoft.com/office/drawing/2014/main" id="{5C9CBC54-A208-4CAF-AA27-00653C1BB1F0}"/>
              </a:ext>
            </a:extLst>
          </p:cNvPr>
          <p:cNvSpPr>
            <a:spLocks xmlns:a="http://schemas.openxmlformats.org/drawingml/2006/main" noGrp="1"/>
          </p:cNvSpPr>
          <p:nvPr/>
        </p:nvSpPr>
        <p:spPr>
          <a:xfrm xmlns:a="http://schemas.openxmlformats.org/drawingml/2006/main">
            <a:off x="75533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7" name="">
            <a:extLst xmlns:a="http://schemas.openxmlformats.org/drawingml/2006/main">
              <a:ext uri="{FF2B5EF4-FFF2-40B4-BE49-F238E27FC236}">
                <a16:creationId xmlns:a16="http://schemas.microsoft.com/office/drawing/2014/main" id="{4D53E4F8-FA07-4A96-9FC1-9B89B06505E3}"/>
              </a:ext>
            </a:extLst>
          </p:cNvPr>
          <p:cNvSpPr>
            <a:spLocks xmlns:a="http://schemas.openxmlformats.org/drawingml/2006/main" noGrp="1"/>
          </p:cNvSpPr>
          <p:nvPr/>
        </p:nvSpPr>
        <p:spPr>
          <a:xfrm xmlns:a="http://schemas.openxmlformats.org/drawingml/2006/main">
            <a:off x="80772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8" name="">
            <a:extLst xmlns:a="http://schemas.openxmlformats.org/drawingml/2006/main">
              <a:ext uri="{FF2B5EF4-FFF2-40B4-BE49-F238E27FC236}">
                <a16:creationId xmlns:a16="http://schemas.microsoft.com/office/drawing/2014/main" id="{3358F286-E6F9-46D9-A8EA-18269E260684}"/>
              </a:ext>
            </a:extLst>
          </p:cNvPr>
          <p:cNvSpPr>
            <a:spLocks xmlns:a="http://schemas.openxmlformats.org/drawingml/2006/main" noGrp="1"/>
          </p:cNvSpPr>
          <p:nvPr/>
        </p:nvSpPr>
        <p:spPr>
          <a:xfrm xmlns:a="http://schemas.openxmlformats.org/drawingml/2006/main">
            <a:off x="86010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9" name="">
            <a:extLst xmlns:a="http://schemas.openxmlformats.org/drawingml/2006/main">
              <a:ext uri="{FF2B5EF4-FFF2-40B4-BE49-F238E27FC236}">
                <a16:creationId xmlns:a16="http://schemas.microsoft.com/office/drawing/2014/main" id="{51AD379E-7F3B-4F29-A623-A245C2DF3CDC}"/>
              </a:ext>
            </a:extLst>
          </p:cNvPr>
          <p:cNvSpPr>
            <a:spLocks xmlns:a="http://schemas.openxmlformats.org/drawingml/2006/main" noGrp="1"/>
          </p:cNvSpPr>
          <p:nvPr/>
        </p:nvSpPr>
        <p:spPr>
          <a:xfrm xmlns:a="http://schemas.openxmlformats.org/drawingml/2006/main">
            <a:off x="66294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60" name="">
            <a:extLst xmlns:a="http://schemas.openxmlformats.org/drawingml/2006/main">
              <a:ext uri="{FF2B5EF4-FFF2-40B4-BE49-F238E27FC236}">
                <a16:creationId xmlns:a16="http://schemas.microsoft.com/office/drawing/2014/main" id="{3685EA3F-BB76-4B7C-96FE-ABF3CF69377E}"/>
              </a:ext>
            </a:extLst>
          </p:cNvPr>
          <p:cNvSpPr>
            <a:spLocks xmlns:a="http://schemas.openxmlformats.org/drawingml/2006/main" noGrp="1"/>
          </p:cNvSpPr>
          <p:nvPr/>
        </p:nvSpPr>
        <p:spPr>
          <a:xfrm xmlns:a="http://schemas.openxmlformats.org/drawingml/2006/main">
            <a:off x="87249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B</a:t>
            </a:r>
          </a:p>
        </p:txBody>
      </p:sp>
      <p:sp>
        <p:nvSpPr>
          <p:cNvPr id="61" name="">
            <a:extLst xmlns:a="http://schemas.openxmlformats.org/drawingml/2006/main">
              <a:ext uri="{FF2B5EF4-FFF2-40B4-BE49-F238E27FC236}">
                <a16:creationId xmlns:a16="http://schemas.microsoft.com/office/drawing/2014/main" id="{32AD0983-B22F-4A06-975E-3A81D2B02745}"/>
              </a:ext>
            </a:extLst>
          </p:cNvPr>
          <p:cNvSpPr>
            <a:spLocks xmlns:a="http://schemas.openxmlformats.org/drawingml/2006/main" noGrp="1"/>
          </p:cNvSpPr>
          <p:nvPr/>
        </p:nvSpPr>
        <p:spPr>
          <a:xfrm xmlns:a="http://schemas.openxmlformats.org/drawingml/2006/main">
            <a:off x="7696200" y="242887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B13E2E"/>
                </a:solidFill>
                <a:latin typeface="Arial"/>
                <a:ea typeface="Arial"/>
                <a:cs typeface="Arial"/>
              </a:defRPr>
            </a:pPr>
            <a:r>
              <a:rPr sz="2250" b="0">
                <a:solidFill>
                  <a:srgbClr val="B13E2E"/>
                </a:solidFill>
                <a:latin typeface="Arial"/>
                <a:ea typeface="Arial"/>
                <a:cs typeface="Arial"/>
              </a:rPr>
              <a:t>●</a:t>
            </a:r>
          </a:p>
        </p:txBody>
      </p:sp>
      <p:sp>
        <p:nvSpPr>
          <p:cNvPr id="62" name="">
            <a:extLst xmlns:a="http://schemas.openxmlformats.org/drawingml/2006/main">
              <a:ext uri="{FF2B5EF4-FFF2-40B4-BE49-F238E27FC236}">
                <a16:creationId xmlns:a16="http://schemas.microsoft.com/office/drawing/2014/main" id="{3AA993AB-FAA9-43A5-AD2C-72D554032E26}"/>
              </a:ext>
            </a:extLst>
          </p:cNvPr>
          <p:cNvSpPr>
            <a:spLocks xmlns:a="http://schemas.openxmlformats.org/drawingml/2006/main" noGrp="1"/>
          </p:cNvSpPr>
          <p:nvPr/>
        </p:nvSpPr>
        <p:spPr>
          <a:xfrm xmlns:a="http://schemas.openxmlformats.org/drawingml/2006/main">
            <a:off x="9534525" y="2686050"/>
            <a:ext cx="20383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Top = LEFT</a:t>
            </a:r>
          </a:p>
          <a:p xmlns:a="http://schemas.openxmlformats.org/drawingml/2006/main">
            <a:r>
              <a:t/>
            </a:r>
          </a:p>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Bottom = RIGHT</a:t>
            </a:r>
          </a:p>
        </p:txBody>
      </p:sp>
      <p:sp>
        <p:nvSpPr>
          <p:cNvPr id="63" name="">
            <a:extLst xmlns:a="http://schemas.openxmlformats.org/drawingml/2006/main">
              <a:ext uri="{FF2B5EF4-FFF2-40B4-BE49-F238E27FC236}">
                <a16:creationId xmlns:a16="http://schemas.microsoft.com/office/drawing/2014/main" id="{F46E6067-86A3-46B6-B85F-41BEF7F06E47}"/>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Scripted illustrations. A wall, a penalty and a monitor do different things. Shared state can carry information.</a:t>
            </a:r>
          </a:p>
        </p:txBody>
      </p:sp>
    </p:spTree>
    <p:extLst>
      <p:ext uri="{BB962C8B-B14F-4D97-AF65-F5344CB8AC3E}">
        <p14:creationId xmlns:p14="http://schemas.microsoft.com/office/powerpoint/2010/main" val="1792508562"/>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2CD0E8-76CC-467C-B858-E4F7DCE6492B}"/>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Sequences can cross a boundary</a:t>
            </a:r>
          </a:p>
        </p:txBody>
      </p:sp>
      <p:sp>
        <p:nvSpPr>
          <p:cNvPr id="2" name="">
            <a:extLst xmlns:a="http://schemas.openxmlformats.org/drawingml/2006/main">
              <a:ext uri="{FF2B5EF4-FFF2-40B4-BE49-F238E27FC236}">
                <a16:creationId xmlns:a16="http://schemas.microsoft.com/office/drawing/2014/main" id="{35AC9177-663B-40C9-AC0E-0F1F50F72BE9}"/>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CF0B547-C924-4F73-89B8-ACF1DACE84B6}"/>
              </a:ext>
            </a:extLst>
          </p:cNvPr>
          <p:cNvSpPr>
            <a:spLocks xmlns:a="http://schemas.openxmlformats.org/drawingml/2006/main" noGrp="1"/>
          </p:cNvSpPr>
          <p:nvPr/>
        </p:nvSpPr>
        <p:spPr>
          <a:xfrm xmlns:a="http://schemas.openxmlformats.org/drawingml/2006/main">
            <a:off x="609600" y="1771650"/>
            <a:ext cx="108204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142D3B"/>
                </a:solidFill>
                <a:latin typeface="Arial"/>
                <a:ea typeface="Arial"/>
                <a:cs typeface="Arial"/>
              </a:defRPr>
            </a:pPr>
            <a:r>
              <a:rPr sz="3375" b="1">
                <a:solidFill>
                  <a:srgbClr val="142D3B"/>
                </a:solidFill>
                <a:latin typeface="Arial"/>
                <a:ea typeface="Arial"/>
                <a:cs typeface="Arial"/>
              </a:rPr>
              <a:t>Can a sequence of individually plausible actions produce an outcome that would have been rejected if requested directly?</a:t>
            </a:r>
          </a:p>
        </p:txBody>
      </p:sp>
      <p:sp>
        <p:nvSpPr>
          <p:cNvPr id="4" name="">
            <a:extLst xmlns:a="http://schemas.openxmlformats.org/drawingml/2006/main">
              <a:ext uri="{FF2B5EF4-FFF2-40B4-BE49-F238E27FC236}">
                <a16:creationId xmlns:a16="http://schemas.microsoft.com/office/drawing/2014/main" id="{D66D2F11-FD29-49E8-AF3D-C882D26662F8}"/>
              </a:ext>
            </a:extLst>
          </p:cNvPr>
          <p:cNvSpPr>
            <a:spLocks xmlns:a="http://schemas.openxmlformats.org/drawingml/2006/main" noGrp="1"/>
          </p:cNvSpPr>
          <p:nvPr/>
        </p:nvSpPr>
        <p:spPr>
          <a:xfrm xmlns:a="http://schemas.openxmlformats.org/drawingml/2006/main">
            <a:off x="609600" y="46005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DAN prompts</a:t>
            </a:r>
          </a:p>
        </p:txBody>
      </p:sp>
      <p:sp>
        <p:nvSpPr>
          <p:cNvPr id="5" name="">
            <a:extLst xmlns:a="http://schemas.openxmlformats.org/drawingml/2006/main">
              <a:ext uri="{FF2B5EF4-FFF2-40B4-BE49-F238E27FC236}">
                <a16:creationId xmlns:a16="http://schemas.microsoft.com/office/drawing/2014/main" id="{7EA68C90-475B-40F1-A1A3-CBB6DE51AE5C}"/>
              </a:ext>
            </a:extLst>
          </p:cNvPr>
          <p:cNvSpPr>
            <a:spLocks xmlns:a="http://schemas.openxmlformats.org/drawingml/2006/main" noGrp="1"/>
          </p:cNvSpPr>
          <p:nvPr/>
        </p:nvSpPr>
        <p:spPr>
          <a:xfrm xmlns:a="http://schemas.openxmlformats.org/drawingml/2006/main">
            <a:off x="4276725" y="4600575"/>
            <a:ext cx="3876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Unverified permission</a:t>
            </a:r>
          </a:p>
        </p:txBody>
      </p:sp>
      <p:sp>
        <p:nvSpPr>
          <p:cNvPr id="6" name="">
            <a:extLst xmlns:a="http://schemas.openxmlformats.org/drawingml/2006/main">
              <a:ext uri="{FF2B5EF4-FFF2-40B4-BE49-F238E27FC236}">
                <a16:creationId xmlns:a16="http://schemas.microsoft.com/office/drawing/2014/main" id="{6DE20D7D-9C82-441D-9908-D9D2C2B81CE7}"/>
              </a:ext>
            </a:extLst>
          </p:cNvPr>
          <p:cNvSpPr>
            <a:spLocks xmlns:a="http://schemas.openxmlformats.org/drawingml/2006/main" noGrp="1"/>
          </p:cNvSpPr>
          <p:nvPr/>
        </p:nvSpPr>
        <p:spPr>
          <a:xfrm xmlns:a="http://schemas.openxmlformats.org/drawingml/2006/main">
            <a:off x="8477250" y="4600575"/>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13E2E"/>
                </a:solidFill>
                <a:latin typeface="Arial"/>
                <a:ea typeface="Arial"/>
                <a:cs typeface="Arial"/>
              </a:defRPr>
            </a:pPr>
            <a:r>
              <a:rPr sz="2100" b="1">
                <a:solidFill>
                  <a:srgbClr val="B13E2E"/>
                </a:solidFill>
                <a:latin typeface="Arial"/>
                <a:ea typeface="Arial"/>
                <a:cs typeface="Arial"/>
              </a:rPr>
              <a:t>Gradual steering</a:t>
            </a:r>
          </a:p>
        </p:txBody>
      </p:sp>
      <p:sp>
        <p:nvSpPr>
          <p:cNvPr id="7" name="">
            <a:extLst xmlns:a="http://schemas.openxmlformats.org/drawingml/2006/main">
              <a:ext uri="{FF2B5EF4-FFF2-40B4-BE49-F238E27FC236}">
                <a16:creationId xmlns:a16="http://schemas.microsoft.com/office/drawing/2014/main" id="{99737957-7779-40FC-9931-13C3E3257938}"/>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Different mechanisms. Historical demonstrations do not establish that every current model is vulnerable.</a:t>
            </a:r>
          </a:p>
        </p:txBody>
      </p:sp>
    </p:spTree>
    <p:extLst>
      <p:ext uri="{BB962C8B-B14F-4D97-AF65-F5344CB8AC3E}">
        <p14:creationId xmlns:p14="http://schemas.microsoft.com/office/powerpoint/2010/main" val="169773171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958837-B186-4638-B7A3-2E7D07B769D6}"/>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Hugging Face incident</a:t>
            </a:r>
          </a:p>
        </p:txBody>
      </p:sp>
      <p:sp>
        <p:nvSpPr>
          <p:cNvPr id="2" name="">
            <a:extLst xmlns:a="http://schemas.openxmlformats.org/drawingml/2006/main">
              <a:ext uri="{FF2B5EF4-FFF2-40B4-BE49-F238E27FC236}">
                <a16:creationId xmlns:a16="http://schemas.microsoft.com/office/drawing/2014/main" id="{6A226F5F-47E7-48AA-9695-9256B07E965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8C8A4BE-21BA-494E-BA59-5717D5DFD34C}"/>
              </a:ext>
            </a:extLst>
          </p:cNvPr>
          <p:cNvSpPr>
            <a:spLocks xmlns:a="http://schemas.openxmlformats.org/drawingml/2006/main" noGrp="1"/>
          </p:cNvSpPr>
          <p:nvPr/>
        </p:nvSpPr>
        <p:spPr>
          <a:xfrm xmlns:a="http://schemas.openxmlformats.org/drawingml/2006/main">
            <a:off x="609600" y="1781175"/>
            <a:ext cx="5000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725" b="1">
                <a:solidFill>
                  <a:srgbClr val="B13E2E"/>
                </a:solidFill>
                <a:latin typeface="Arial"/>
                <a:ea typeface="Arial"/>
                <a:cs typeface="Arial"/>
              </a:defRPr>
            </a:pPr>
            <a:r>
              <a:rPr sz="7725" b="1">
                <a:solidFill>
                  <a:srgbClr val="B13E2E"/>
                </a:solidFill>
                <a:latin typeface="Arial"/>
                <a:ea typeface="Arial"/>
                <a:cs typeface="Arial"/>
              </a:rPr>
              <a:t>LOOT</a:t>
            </a:r>
          </a:p>
        </p:txBody>
      </p:sp>
      <p:sp>
        <p:nvSpPr>
          <p:cNvPr id="4" name="">
            <a:extLst xmlns:a="http://schemas.openxmlformats.org/drawingml/2006/main">
              <a:ext uri="{FF2B5EF4-FFF2-40B4-BE49-F238E27FC236}">
                <a16:creationId xmlns:a16="http://schemas.microsoft.com/office/drawing/2014/main" id="{49E751EC-0EAB-44A6-895A-7E7C444F2098}"/>
              </a:ext>
            </a:extLst>
          </p:cNvPr>
          <p:cNvSpPr>
            <a:spLocks xmlns:a="http://schemas.openxmlformats.org/drawingml/2006/main" noGrp="1"/>
          </p:cNvSpPr>
          <p:nvPr/>
        </p:nvSpPr>
        <p:spPr>
          <a:xfrm xmlns:a="http://schemas.openxmlformats.org/drawingml/2006/main">
            <a:off x="609600" y="3343275"/>
            <a:ext cx="5095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Identifier in recovered code</a:t>
            </a:r>
          </a:p>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for resources and credentials</a:t>
            </a:r>
          </a:p>
        </p:txBody>
      </p:sp>
      <p:sp>
        <p:nvSpPr>
          <p:cNvPr id="5" name="">
            <a:extLst xmlns:a="http://schemas.openxmlformats.org/drawingml/2006/main">
              <a:ext uri="{FF2B5EF4-FFF2-40B4-BE49-F238E27FC236}">
                <a16:creationId xmlns:a16="http://schemas.microsoft.com/office/drawing/2014/main" id="{5702B972-F1CE-4805-99E0-A7044B2C5D67}"/>
              </a:ext>
            </a:extLst>
          </p:cNvPr>
          <p:cNvSpPr>
            <a:spLocks xmlns:a="http://schemas.openxmlformats.org/drawingml/2006/main" noGrp="1"/>
          </p:cNvSpPr>
          <p:nvPr/>
        </p:nvSpPr>
        <p:spPr>
          <a:xfrm xmlns:a="http://schemas.openxmlformats.org/drawingml/2006/main">
            <a:off x="6581775" y="1924050"/>
            <a:ext cx="48958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Unauthorized communication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Isolation bypass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Access to third-party systems</a:t>
            </a:r>
          </a:p>
        </p:txBody>
      </p:sp>
      <p:sp>
        <p:nvSpPr>
          <p:cNvPr id="6" name="">
            <a:extLst xmlns:a="http://schemas.openxmlformats.org/drawingml/2006/main">
              <a:ext uri="{FF2B5EF4-FFF2-40B4-BE49-F238E27FC236}">
                <a16:creationId xmlns:a16="http://schemas.microsoft.com/office/drawing/2014/main" id="{7CA10B74-675F-4845-9478-5EBD38274641}"/>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July 2026 internal evaluations under reduced safeguards. OpenAI report and independent investigations.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Recovered attempts do not prove every action succeeded.</a:t>
            </a:r>
          </a:p>
        </p:txBody>
      </p:sp>
    </p:spTree>
    <p:extLst>
      <p:ext uri="{BB962C8B-B14F-4D97-AF65-F5344CB8AC3E}">
        <p14:creationId xmlns:p14="http://schemas.microsoft.com/office/powerpoint/2010/main" val="83564822"/>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8DAD7E-16FD-4AF6-98E1-9FED4EA42BA2}"/>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More activity between human checks</a:t>
            </a:r>
          </a:p>
        </p:txBody>
      </p:sp>
      <p:sp>
        <p:nvSpPr>
          <p:cNvPr id="2" name="">
            <a:extLst xmlns:a="http://schemas.openxmlformats.org/drawingml/2006/main">
              <a:ext uri="{FF2B5EF4-FFF2-40B4-BE49-F238E27FC236}">
                <a16:creationId xmlns:a16="http://schemas.microsoft.com/office/drawing/2014/main" id="{DA4A84C0-CBCB-4F74-9C35-BA81CFF7709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A9780B1A-0DDF-48F7-BBC2-70CD74417D63}"/>
              </a:ext>
            </a:extLst>
          </p:cNvPr>
          <p:cNvSpPr>
            <a:spLocks xmlns:a="http://schemas.openxmlformats.org/drawingml/2006/main" noGrp="1"/>
          </p:cNvSpPr>
          <p:nvPr/>
        </p:nvSpPr>
        <p:spPr>
          <a:xfrm xmlns:a="http://schemas.openxmlformats.org/drawingml/2006/main">
            <a:off x="609600" y="1828800"/>
            <a:ext cx="10801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Agents × action rate × review interval</a:t>
            </a:r>
          </a:p>
        </p:txBody>
      </p:sp>
      <p:sp>
        <p:nvSpPr>
          <p:cNvPr id="4" name="">
            <a:extLst xmlns:a="http://schemas.openxmlformats.org/drawingml/2006/main">
              <a:ext uri="{FF2B5EF4-FFF2-40B4-BE49-F238E27FC236}">
                <a16:creationId xmlns:a16="http://schemas.microsoft.com/office/drawing/2014/main" id="{EAE0FD40-F5F6-4891-993A-41FB5CB10165}"/>
              </a:ext>
            </a:extLst>
          </p:cNvPr>
          <p:cNvSpPr>
            <a:spLocks xmlns:a="http://schemas.openxmlformats.org/drawingml/2006/main" noGrp="1"/>
          </p:cNvSpPr>
          <p:nvPr/>
        </p:nvSpPr>
        <p:spPr>
          <a:xfrm xmlns:a="http://schemas.openxmlformats.org/drawingml/2006/main">
            <a:off x="609600" y="3095625"/>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Useful persistence</a:t>
            </a:r>
          </a:p>
        </p:txBody>
      </p:sp>
      <p:sp>
        <p:nvSpPr>
          <p:cNvPr id="5" name="">
            <a:extLst xmlns:a="http://schemas.openxmlformats.org/drawingml/2006/main">
              <a:ext uri="{FF2B5EF4-FFF2-40B4-BE49-F238E27FC236}">
                <a16:creationId xmlns:a16="http://schemas.microsoft.com/office/drawing/2014/main" id="{C9F3DC59-0D69-41F2-92C8-7F3575462028}"/>
              </a:ext>
            </a:extLst>
          </p:cNvPr>
          <p:cNvSpPr>
            <a:spLocks xmlns:a="http://schemas.openxmlformats.org/drawingml/2006/main" noGrp="1"/>
          </p:cNvSpPr>
          <p:nvPr/>
        </p:nvSpPr>
        <p:spPr>
          <a:xfrm xmlns:a="http://schemas.openxmlformats.org/drawingml/2006/main">
            <a:off x="609600" y="38100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Research and implementation continue with fewer interruptions.</a:t>
            </a:r>
          </a:p>
        </p:txBody>
      </p:sp>
      <p:sp>
        <p:nvSpPr>
          <p:cNvPr id="6" name="">
            <a:extLst xmlns:a="http://schemas.openxmlformats.org/drawingml/2006/main">
              <a:ext uri="{FF2B5EF4-FFF2-40B4-BE49-F238E27FC236}">
                <a16:creationId xmlns:a16="http://schemas.microsoft.com/office/drawing/2014/main" id="{67F38023-8A96-401A-BB5A-C1EE794308CF}"/>
              </a:ext>
            </a:extLst>
          </p:cNvPr>
          <p:cNvSpPr>
            <a:spLocks xmlns:a="http://schemas.openxmlformats.org/drawingml/2006/main" noGrp="1"/>
          </p:cNvSpPr>
          <p:nvPr/>
        </p:nvSpPr>
        <p:spPr>
          <a:xfrm xmlns:a="http://schemas.openxmlformats.org/drawingml/2006/main">
            <a:off x="6572250" y="3095625"/>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Persistent failure</a:t>
            </a:r>
          </a:p>
        </p:txBody>
      </p:sp>
      <p:sp>
        <p:nvSpPr>
          <p:cNvPr id="7" name="">
            <a:extLst xmlns:a="http://schemas.openxmlformats.org/drawingml/2006/main">
              <a:ext uri="{FF2B5EF4-FFF2-40B4-BE49-F238E27FC236}">
                <a16:creationId xmlns:a16="http://schemas.microsoft.com/office/drawing/2014/main" id="{A9F4BF8D-4052-4878-8F6F-46978E2AF64A}"/>
              </a:ext>
            </a:extLst>
          </p:cNvPr>
          <p:cNvSpPr>
            <a:spLocks xmlns:a="http://schemas.openxmlformats.org/drawingml/2006/main" noGrp="1"/>
          </p:cNvSpPr>
          <p:nvPr/>
        </p:nvSpPr>
        <p:spPr>
          <a:xfrm xmlns:a="http://schemas.openxmlformats.org/drawingml/2006/main">
            <a:off x="6572250" y="3810000"/>
            <a:ext cx="5010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mistaken shared state influences more actions before detection.</a:t>
            </a:r>
          </a:p>
        </p:txBody>
      </p:sp>
      <p:sp>
        <p:nvSpPr>
          <p:cNvPr id="8" name="">
            <a:extLst xmlns:a="http://schemas.openxmlformats.org/drawingml/2006/main">
              <a:ext uri="{FF2B5EF4-FFF2-40B4-BE49-F238E27FC236}">
                <a16:creationId xmlns:a16="http://schemas.microsoft.com/office/drawing/2014/main" id="{DA7BEE7F-376A-4172-BA48-4FCC4093C077}"/>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Illustrative exposure measure. Speed alone does not establish exponential harm. Checks can run automatically.</a:t>
            </a:r>
          </a:p>
        </p:txBody>
      </p:sp>
    </p:spTree>
    <p:extLst>
      <p:ext uri="{BB962C8B-B14F-4D97-AF65-F5344CB8AC3E}">
        <p14:creationId xmlns:p14="http://schemas.microsoft.com/office/powerpoint/2010/main" val="796357533"/>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C331A0-3859-415A-89CC-4B3AB7F91465}"/>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Open questions and the central conclusion</a:t>
            </a:r>
          </a:p>
        </p:txBody>
      </p:sp>
      <p:sp>
        <p:nvSpPr>
          <p:cNvPr id="2" name="">
            <a:extLst xmlns:a="http://schemas.openxmlformats.org/drawingml/2006/main">
              <a:ext uri="{FF2B5EF4-FFF2-40B4-BE49-F238E27FC236}">
                <a16:creationId xmlns:a16="http://schemas.microsoft.com/office/drawing/2014/main" id="{AB2CBFE8-06FB-441A-AD28-4A528AE2632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A6B7276C-6CE9-4AC4-A8D5-94A5596F6953}"/>
              </a:ext>
            </a:extLst>
          </p:cNvPr>
          <p:cNvSpPr>
            <a:spLocks xmlns:a="http://schemas.openxmlformats.org/drawingml/2006/main" noGrp="1"/>
          </p:cNvSpPr>
          <p:nvPr/>
        </p:nvSpPr>
        <p:spPr>
          <a:xfrm xmlns:a="http://schemas.openxmlformats.org/drawingml/2006/main">
            <a:off x="609600" y="16573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What remains reliable as agent fleets grow?</a:t>
            </a:r>
          </a:p>
        </p:txBody>
      </p:sp>
      <p:sp>
        <p:nvSpPr>
          <p:cNvPr id="4" name="">
            <a:extLst xmlns:a="http://schemas.openxmlformats.org/drawingml/2006/main">
              <a:ext uri="{FF2B5EF4-FFF2-40B4-BE49-F238E27FC236}">
                <a16:creationId xmlns:a16="http://schemas.microsoft.com/office/drawing/2014/main" id="{D18F3D8E-28AB-470B-AC45-F201D587ECFB}"/>
              </a:ext>
            </a:extLst>
          </p:cNvPr>
          <p:cNvSpPr>
            <a:spLocks xmlns:a="http://schemas.openxmlformats.org/drawingml/2006/main" noGrp="1"/>
          </p:cNvSpPr>
          <p:nvPr/>
        </p:nvSpPr>
        <p:spPr>
          <a:xfrm xmlns:a="http://schemas.openxmlformats.org/drawingml/2006/main">
            <a:off x="609600" y="27051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Who verifies improvements to the tools and models?</a:t>
            </a:r>
          </a:p>
        </p:txBody>
      </p:sp>
      <p:sp>
        <p:nvSpPr>
          <p:cNvPr id="5" name="">
            <a:extLst xmlns:a="http://schemas.openxmlformats.org/drawingml/2006/main">
              <a:ext uri="{FF2B5EF4-FFF2-40B4-BE49-F238E27FC236}">
                <a16:creationId xmlns:a16="http://schemas.microsoft.com/office/drawing/2014/main" id="{AAE5170D-5E18-45C1-BA33-EB8EBE34F810}"/>
              </a:ext>
            </a:extLst>
          </p:cNvPr>
          <p:cNvSpPr>
            <a:spLocks xmlns:a="http://schemas.openxmlformats.org/drawingml/2006/main" noGrp="1"/>
          </p:cNvSpPr>
          <p:nvPr/>
        </p:nvSpPr>
        <p:spPr>
          <a:xfrm xmlns:a="http://schemas.openxmlformats.org/drawingml/2006/main">
            <a:off x="609600" y="3905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Which decisions still require a human?</a:t>
            </a:r>
          </a:p>
        </p:txBody>
      </p:sp>
      <p:sp>
        <p:nvSpPr>
          <p:cNvPr id="6" name="">
            <a:extLst xmlns:a="http://schemas.openxmlformats.org/drawingml/2006/main">
              <a:ext uri="{FF2B5EF4-FFF2-40B4-BE49-F238E27FC236}">
                <a16:creationId xmlns:a16="http://schemas.microsoft.com/office/drawing/2014/main" id="{3574AE3B-CC82-4830-9390-4138444C0A3C}"/>
              </a:ext>
            </a:extLst>
          </p:cNvPr>
          <p:cNvSpPr>
            <a:spLocks xmlns:a="http://schemas.openxmlformats.org/drawingml/2006/main" noGrp="1"/>
          </p:cNvSpPr>
          <p:nvPr/>
        </p:nvSpPr>
        <p:spPr>
          <a:xfrm xmlns:a="http://schemas.openxmlformats.org/drawingml/2006/main">
            <a:off x="609600" y="51530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Capability, reliability and control</a:t>
            </a:r>
          </a:p>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belong in the same evaluation.</a:t>
            </a:r>
          </a:p>
        </p:txBody>
      </p:sp>
    </p:spTree>
    <p:extLst>
      <p:ext uri="{BB962C8B-B14F-4D97-AF65-F5344CB8AC3E}">
        <p14:creationId xmlns:p14="http://schemas.microsoft.com/office/powerpoint/2010/main" val="1700824733"/>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D2741E-03B1-4DD8-B651-8CF6207DA69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capability and verification</a:t>
            </a:r>
          </a:p>
        </p:txBody>
      </p:sp>
      <p:sp>
        <p:nvSpPr>
          <p:cNvPr id="2" name="">
            <a:extLst xmlns:a="http://schemas.openxmlformats.org/drawingml/2006/main">
              <a:ext uri="{FF2B5EF4-FFF2-40B4-BE49-F238E27FC236}">
                <a16:creationId xmlns:a16="http://schemas.microsoft.com/office/drawing/2014/main" id="{D48BD464-5F60-424B-8CDA-00DA83E0256D}"/>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5906A8E1-B33E-4580-B486-7CEBFC227349}"/>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Ouyang et al. (2022)</a:t>
            </a:r>
          </a:p>
        </p:txBody>
      </p:sp>
      <p:sp>
        <p:nvSpPr>
          <p:cNvPr id="4" name="">
            <a:extLst xmlns:a="http://schemas.openxmlformats.org/drawingml/2006/main">
              <a:ext uri="{FF2B5EF4-FFF2-40B4-BE49-F238E27FC236}">
                <a16:creationId xmlns:a16="http://schemas.microsoft.com/office/drawing/2014/main" id="{C69FEBDE-230E-48B3-892C-0A783043DE4A}"/>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Supervised fine-tuning and RLHF</a:t>
            </a:r>
          </a:p>
        </p:txBody>
      </p:sp>
      <p:sp>
        <p:nvSpPr>
          <p:cNvPr id="5" name="">
            <a:extLst xmlns:a="http://schemas.openxmlformats.org/drawingml/2006/main">
              <a:ext uri="{FF2B5EF4-FFF2-40B4-BE49-F238E27FC236}">
                <a16:creationId xmlns:a16="http://schemas.microsoft.com/office/drawing/2014/main" id="{52E1CA68-5371-4BAB-9610-9CD9DDD56D59}"/>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Wang et al. (2023)</a:t>
            </a:r>
          </a:p>
        </p:txBody>
      </p:sp>
      <p:sp>
        <p:nvSpPr>
          <p:cNvPr id="6" name="">
            <a:extLst xmlns:a="http://schemas.openxmlformats.org/drawingml/2006/main">
              <a:ext uri="{FF2B5EF4-FFF2-40B4-BE49-F238E27FC236}">
                <a16:creationId xmlns:a16="http://schemas.microsoft.com/office/drawing/2014/main" id="{CE01A406-6999-4688-9D2D-CB0DE39590DC}"/>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Self-consistency across sampled reasoning paths</a:t>
            </a:r>
          </a:p>
        </p:txBody>
      </p:sp>
      <p:sp>
        <p:nvSpPr>
          <p:cNvPr id="7" name="">
            <a:extLst xmlns:a="http://schemas.openxmlformats.org/drawingml/2006/main">
              <a:ext uri="{FF2B5EF4-FFF2-40B4-BE49-F238E27FC236}">
                <a16:creationId xmlns:a16="http://schemas.microsoft.com/office/drawing/2014/main" id="{13DE2FCC-D3F2-4719-B698-7ECBC07E5FC3}"/>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(2020); Foerster et al. (2016)</a:t>
            </a:r>
          </a:p>
        </p:txBody>
      </p:sp>
      <p:sp>
        <p:nvSpPr>
          <p:cNvPr id="8" name="">
            <a:extLst xmlns:a="http://schemas.openxmlformats.org/drawingml/2006/main">
              <a:ext uri="{FF2B5EF4-FFF2-40B4-BE49-F238E27FC236}">
                <a16:creationId xmlns:a16="http://schemas.microsoft.com/office/drawing/2014/main" id="{944063FD-5507-4753-9699-0C1226001C66}"/>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Competition, tool use and learned communication</a:t>
            </a:r>
          </a:p>
        </p:txBody>
      </p:sp>
      <p:sp>
        <p:nvSpPr>
          <p:cNvPr id="9" name="">
            <a:extLst xmlns:a="http://schemas.openxmlformats.org/drawingml/2006/main">
              <a:ext uri="{FF2B5EF4-FFF2-40B4-BE49-F238E27FC236}">
                <a16:creationId xmlns:a16="http://schemas.microsoft.com/office/drawing/2014/main" id="{BA0F7B40-D0F6-465E-8193-AE58C537CFDF}"/>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Sothanaphan (2026); OpenAI (2026b)</a:t>
            </a:r>
          </a:p>
        </p:txBody>
      </p:sp>
      <p:sp>
        <p:nvSpPr>
          <p:cNvPr id="10" name="">
            <a:extLst xmlns:a="http://schemas.openxmlformats.org/drawingml/2006/main">
              <a:ext uri="{FF2B5EF4-FFF2-40B4-BE49-F238E27FC236}">
                <a16:creationId xmlns:a16="http://schemas.microsoft.com/office/drawing/2014/main" id="{E085F4D8-8A3D-47A5-AF83-2E7678E239B7}"/>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Erdős 728 and the Navier–Stokes report</a:t>
            </a:r>
          </a:p>
        </p:txBody>
      </p:sp>
      <p:sp>
        <p:nvSpPr>
          <p:cNvPr id="11" name="">
            <a:extLst xmlns:a="http://schemas.openxmlformats.org/drawingml/2006/main">
              <a:ext uri="{FF2B5EF4-FFF2-40B4-BE49-F238E27FC236}">
                <a16:creationId xmlns:a16="http://schemas.microsoft.com/office/drawing/2014/main" id="{A7827A09-2D68-40D2-95F5-95548C25B88F}"/>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Erdős AI Wiki contributors (2026); Stenberg (2026)</a:t>
            </a:r>
          </a:p>
        </p:txBody>
      </p:sp>
      <p:sp>
        <p:nvSpPr>
          <p:cNvPr id="12" name="">
            <a:extLst xmlns:a="http://schemas.openxmlformats.org/drawingml/2006/main">
              <a:ext uri="{FF2B5EF4-FFF2-40B4-BE49-F238E27FC236}">
                <a16:creationId xmlns:a16="http://schemas.microsoft.com/office/drawing/2014/main" id="{DACD4D71-E55E-4891-8102-1EA2C77BA71E}"/>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Recorded contributions and review capacity</a:t>
            </a:r>
          </a:p>
        </p:txBody>
      </p:sp>
    </p:spTree>
    <p:extLst>
      <p:ext uri="{BB962C8B-B14F-4D97-AF65-F5344CB8AC3E}">
        <p14:creationId xmlns:p14="http://schemas.microsoft.com/office/powerpoint/2010/main" val="1886008180"/>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4DD52A-A551-477F-B615-F9EBE4E60290}"/>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failures and control</a:t>
            </a:r>
          </a:p>
        </p:txBody>
      </p:sp>
      <p:sp>
        <p:nvSpPr>
          <p:cNvPr id="2" name="">
            <a:extLst xmlns:a="http://schemas.openxmlformats.org/drawingml/2006/main">
              <a:ext uri="{FF2B5EF4-FFF2-40B4-BE49-F238E27FC236}">
                <a16:creationId xmlns:a16="http://schemas.microsoft.com/office/drawing/2014/main" id="{8363ADA7-9E28-4DCF-BC19-DA3BCA168C35}"/>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08DE1698-D674-466B-BADD-18544760A2D7}"/>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Cemri et al. (2025)</a:t>
            </a:r>
          </a:p>
        </p:txBody>
      </p:sp>
      <p:sp>
        <p:nvSpPr>
          <p:cNvPr id="4" name="">
            <a:extLst xmlns:a="http://schemas.openxmlformats.org/drawingml/2006/main">
              <a:ext uri="{FF2B5EF4-FFF2-40B4-BE49-F238E27FC236}">
                <a16:creationId xmlns:a16="http://schemas.microsoft.com/office/drawing/2014/main" id="{D7BAEADD-4342-4F5B-A842-A17E36A5D6C9}"/>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Multi-agent failures and verification</a:t>
            </a:r>
          </a:p>
        </p:txBody>
      </p:sp>
      <p:sp>
        <p:nvSpPr>
          <p:cNvPr id="5" name="">
            <a:extLst xmlns:a="http://schemas.openxmlformats.org/drawingml/2006/main">
              <a:ext uri="{FF2B5EF4-FFF2-40B4-BE49-F238E27FC236}">
                <a16:creationId xmlns:a16="http://schemas.microsoft.com/office/drawing/2014/main" id="{AAA80BF4-A566-43D9-91FE-FFA9BD169577}"/>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Shen et al. (2024); Russinovich et al. (2025)</a:t>
            </a:r>
          </a:p>
        </p:txBody>
      </p:sp>
      <p:sp>
        <p:nvSpPr>
          <p:cNvPr id="6" name="">
            <a:extLst xmlns:a="http://schemas.openxmlformats.org/drawingml/2006/main">
              <a:ext uri="{FF2B5EF4-FFF2-40B4-BE49-F238E27FC236}">
                <a16:creationId xmlns:a16="http://schemas.microsoft.com/office/drawing/2014/main" id="{98EE966E-2CD0-4BD1-8490-D1EC8B9814F9}"/>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DAN and Crescendo</a:t>
            </a:r>
          </a:p>
        </p:txBody>
      </p:sp>
      <p:sp>
        <p:nvSpPr>
          <p:cNvPr id="7" name="">
            <a:extLst xmlns:a="http://schemas.openxmlformats.org/drawingml/2006/main">
              <a:ext uri="{FF2B5EF4-FFF2-40B4-BE49-F238E27FC236}">
                <a16:creationId xmlns:a16="http://schemas.microsoft.com/office/drawing/2014/main" id="{AC4DB6F8-0A1E-440A-A1EC-A6355F0651B2}"/>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(2025)</a:t>
            </a:r>
          </a:p>
        </p:txBody>
      </p:sp>
      <p:sp>
        <p:nvSpPr>
          <p:cNvPr id="8" name="">
            <a:extLst xmlns:a="http://schemas.openxmlformats.org/drawingml/2006/main">
              <a:ext uri="{FF2B5EF4-FFF2-40B4-BE49-F238E27FC236}">
                <a16:creationId xmlns:a16="http://schemas.microsoft.com/office/drawing/2014/main" id="{E218F0DF-6BB2-4E4C-A14C-9012E9B86101}"/>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Monitoring and obfuscated reward hacking</a:t>
            </a:r>
          </a:p>
        </p:txBody>
      </p:sp>
      <p:sp>
        <p:nvSpPr>
          <p:cNvPr id="9" name="">
            <a:extLst xmlns:a="http://schemas.openxmlformats.org/drawingml/2006/main">
              <a:ext uri="{FF2B5EF4-FFF2-40B4-BE49-F238E27FC236}">
                <a16:creationId xmlns:a16="http://schemas.microsoft.com/office/drawing/2014/main" id="{DCC52138-627E-4B95-A6A7-A8C0AED5743F}"/>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OpenAI (2026a); METR and Redwood Research (2026)</a:t>
            </a:r>
          </a:p>
        </p:txBody>
      </p:sp>
      <p:sp>
        <p:nvSpPr>
          <p:cNvPr id="10" name="">
            <a:extLst xmlns:a="http://schemas.openxmlformats.org/drawingml/2006/main">
              <a:ext uri="{FF2B5EF4-FFF2-40B4-BE49-F238E27FC236}">
                <a16:creationId xmlns:a16="http://schemas.microsoft.com/office/drawing/2014/main" id="{23AFDF2B-441A-42B3-AB84-1E9F61A0759A}"/>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The Hugging Face incident and trajectory investigation</a:t>
            </a:r>
          </a:p>
        </p:txBody>
      </p:sp>
      <p:sp>
        <p:nvSpPr>
          <p:cNvPr id="11" name="">
            <a:extLst xmlns:a="http://schemas.openxmlformats.org/drawingml/2006/main">
              <a:ext uri="{FF2B5EF4-FFF2-40B4-BE49-F238E27FC236}">
                <a16:creationId xmlns:a16="http://schemas.microsoft.com/office/drawing/2014/main" id="{3FD5833A-CE67-4CA5-8FD8-0F58EDCB6BA5}"/>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Forman et al. (2026); Novikov et al. (2025)</a:t>
            </a:r>
          </a:p>
        </p:txBody>
      </p:sp>
      <p:sp>
        <p:nvSpPr>
          <p:cNvPr id="12" name="">
            <a:extLst xmlns:a="http://schemas.openxmlformats.org/drawingml/2006/main">
              <a:ext uri="{FF2B5EF4-FFF2-40B4-BE49-F238E27FC236}">
                <a16:creationId xmlns:a16="http://schemas.microsoft.com/office/drawing/2014/main" id="{82BA667F-23A5-46C9-978D-3DCDF14CD778}"/>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Swarm Traces and AlphaEvolve</a:t>
            </a:r>
          </a:p>
        </p:txBody>
      </p:sp>
    </p:spTree>
    <p:extLst>
      <p:ext uri="{BB962C8B-B14F-4D97-AF65-F5344CB8AC3E}">
        <p14:creationId xmlns:p14="http://schemas.microsoft.com/office/powerpoint/2010/main" val="1172177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2026-10-05T12:39:41.1930000Z</dcterms:created>
  <dcterms:modified xsi:type="dcterms:W3CDTF">2026-10-05T12:39:41.1930000Z</dcterms:modified>
</coreProperties>
</file>